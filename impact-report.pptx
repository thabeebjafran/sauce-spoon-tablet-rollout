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2A2A8E-4711-4502-8F95-6380EFE6F4D0}">
  <a:tblStyle styleId="{2C2A2A8E-4711-4502-8F95-6380EFE6F4D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5.xml"/><Relationship Id="rId22" Type="http://schemas.openxmlformats.org/officeDocument/2006/relationships/font" Target="fonts/Lato-boldItalic.fntdata"/><Relationship Id="rId10" Type="http://schemas.openxmlformats.org/officeDocument/2006/relationships/slide" Target="slides/slide4.xml"/><Relationship Id="rId21"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aleway-regular.fntdata"/><Relationship Id="rId14" Type="http://schemas.openxmlformats.org/officeDocument/2006/relationships/slide" Target="slides/slide8.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slideMaster" Target="slideMasters/slideMaster1.xml"/><Relationship Id="rId19" Type="http://schemas.openxmlformats.org/officeDocument/2006/relationships/font" Target="fonts/Lato-regular.fntdata"/><Relationship Id="rId6" Type="http://schemas.openxmlformats.org/officeDocument/2006/relationships/notesMaster" Target="notesMasters/notesMaster1.xml"/><Relationship Id="rId18" Type="http://schemas.openxmlformats.org/officeDocument/2006/relationships/font" Target="fonts/Raleway-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t>First pie chart: Results from the post-pilot survey</a:t>
            </a:r>
            <a:endParaRPr sz="1000"/>
          </a:p>
          <a:p>
            <a:pPr indent="0" lvl="0" marL="0" rtl="0" algn="l">
              <a:lnSpc>
                <a:spcPct val="100000"/>
              </a:lnSpc>
              <a:spcBef>
                <a:spcPts val="0"/>
              </a:spcBef>
              <a:spcAft>
                <a:spcPts val="0"/>
              </a:spcAft>
              <a:buSzPts val="1100"/>
              <a:buNone/>
            </a:pPr>
            <a:r>
              <a:rPr lang="en" sz="1000"/>
              <a:t>Second pie chart: Results from the post-launch survey, after making changes</a:t>
            </a:r>
            <a:endParaRPr sz="1000"/>
          </a:p>
          <a:p>
            <a:pPr indent="0" lvl="0" marL="0" rtl="0" algn="l">
              <a:lnSpc>
                <a:spcPct val="100000"/>
              </a:lnSpc>
              <a:spcBef>
                <a:spcPts val="0"/>
              </a:spcBef>
              <a:spcAft>
                <a:spcPts val="0"/>
              </a:spcAft>
              <a:buSzPts val="1100"/>
              <a:buNone/>
            </a:pPr>
            <a:r>
              <a:rPr lang="en" sz="1000"/>
              <a:t>Satisfaction has gone up from 72% (4 and 5 rating) to 86% (4 and 5 rating)</a:t>
            </a:r>
            <a:endParaRPr sz="1000"/>
          </a:p>
          <a:p>
            <a:pPr indent="0" lvl="0" marL="0" rtl="0" algn="l">
              <a:lnSpc>
                <a:spcPct val="100000"/>
              </a:lnSpc>
              <a:spcBef>
                <a:spcPts val="0"/>
              </a:spcBef>
              <a:spcAft>
                <a:spcPts val="0"/>
              </a:spcAft>
              <a:buSzPts val="1100"/>
              <a:buNone/>
            </a:pPr>
            <a:r>
              <a:t/>
            </a:r>
            <a:endParaRPr sz="1000"/>
          </a:p>
          <a:p>
            <a:pPr indent="0" lvl="0" marL="0" rtl="0" algn="l">
              <a:lnSpc>
                <a:spcPct val="100000"/>
              </a:lnSpc>
              <a:spcBef>
                <a:spcPts val="0"/>
              </a:spcBef>
              <a:spcAft>
                <a:spcPts val="0"/>
              </a:spcAft>
              <a:buSzPts val="1100"/>
              <a:buNone/>
            </a:pPr>
            <a:r>
              <a:rPr lang="en" sz="1000"/>
              <a:t>Post-pilot data:</a:t>
            </a:r>
            <a:endParaRPr sz="1000"/>
          </a:p>
          <a:p>
            <a:pPr indent="0" lvl="0" marL="0" rtl="0" algn="l">
              <a:lnSpc>
                <a:spcPct val="100000"/>
              </a:lnSpc>
              <a:spcBef>
                <a:spcPts val="0"/>
              </a:spcBef>
              <a:spcAft>
                <a:spcPts val="0"/>
              </a:spcAft>
              <a:buClr>
                <a:schemeClr val="dk1"/>
              </a:buClr>
              <a:buSzPts val="1100"/>
              <a:buFont typeface="Arial"/>
              <a:buNone/>
            </a:pPr>
            <a:r>
              <a:rPr lang="en" sz="1000"/>
              <a:t>1 - Lacking	2	4%</a:t>
            </a:r>
            <a:endParaRPr sz="1000"/>
          </a:p>
          <a:p>
            <a:pPr indent="0" lvl="0" marL="0" rtl="0" algn="l">
              <a:lnSpc>
                <a:spcPct val="100000"/>
              </a:lnSpc>
              <a:spcBef>
                <a:spcPts val="0"/>
              </a:spcBef>
              <a:spcAft>
                <a:spcPts val="0"/>
              </a:spcAft>
              <a:buClr>
                <a:schemeClr val="dk1"/>
              </a:buClr>
              <a:buSzPts val="1100"/>
              <a:buFont typeface="Arial"/>
              <a:buNone/>
            </a:pPr>
            <a:r>
              <a:rPr lang="en" sz="1000"/>
              <a:t>2		5	10%</a:t>
            </a:r>
            <a:endParaRPr sz="1000"/>
          </a:p>
          <a:p>
            <a:pPr indent="0" lvl="0" marL="0" rtl="0" algn="l">
              <a:lnSpc>
                <a:spcPct val="100000"/>
              </a:lnSpc>
              <a:spcBef>
                <a:spcPts val="0"/>
              </a:spcBef>
              <a:spcAft>
                <a:spcPts val="0"/>
              </a:spcAft>
              <a:buClr>
                <a:schemeClr val="dk1"/>
              </a:buClr>
              <a:buSzPts val="1100"/>
              <a:buFont typeface="Arial"/>
              <a:buNone/>
            </a:pPr>
            <a:r>
              <a:rPr lang="en" sz="1000"/>
              <a:t>3		7	14%</a:t>
            </a:r>
            <a:endParaRPr sz="1000"/>
          </a:p>
          <a:p>
            <a:pPr indent="0" lvl="0" marL="0" rtl="0" algn="l">
              <a:lnSpc>
                <a:spcPct val="100000"/>
              </a:lnSpc>
              <a:spcBef>
                <a:spcPts val="0"/>
              </a:spcBef>
              <a:spcAft>
                <a:spcPts val="0"/>
              </a:spcAft>
              <a:buClr>
                <a:schemeClr val="dk1"/>
              </a:buClr>
              <a:buSzPts val="1100"/>
              <a:buFont typeface="Arial"/>
              <a:buNone/>
            </a:pPr>
            <a:r>
              <a:rPr lang="en" sz="1000"/>
              <a:t>4		20	40%</a:t>
            </a:r>
            <a:endParaRPr sz="1000"/>
          </a:p>
          <a:p>
            <a:pPr indent="0" lvl="0" marL="0" rtl="0" algn="l">
              <a:lnSpc>
                <a:spcPct val="100000"/>
              </a:lnSpc>
              <a:spcBef>
                <a:spcPts val="0"/>
              </a:spcBef>
              <a:spcAft>
                <a:spcPts val="0"/>
              </a:spcAft>
              <a:buSzPts val="1100"/>
              <a:buNone/>
            </a:pPr>
            <a:r>
              <a:rPr lang="en" sz="1000"/>
              <a:t>5 - Great	16	32%</a:t>
            </a:r>
            <a:endParaRPr sz="1000"/>
          </a:p>
          <a:p>
            <a:pPr indent="0" lvl="0" marL="0" rtl="0" algn="l">
              <a:lnSpc>
                <a:spcPct val="100000"/>
              </a:lnSpc>
              <a:spcBef>
                <a:spcPts val="0"/>
              </a:spcBef>
              <a:spcAft>
                <a:spcPts val="0"/>
              </a:spcAft>
              <a:buSzPts val="1100"/>
              <a:buNone/>
            </a:pPr>
            <a:r>
              <a:t/>
            </a:r>
            <a:endParaRPr sz="1000"/>
          </a:p>
          <a:p>
            <a:pPr indent="0" lvl="0" marL="0" rtl="0" algn="l">
              <a:lnSpc>
                <a:spcPct val="100000"/>
              </a:lnSpc>
              <a:spcBef>
                <a:spcPts val="0"/>
              </a:spcBef>
              <a:spcAft>
                <a:spcPts val="0"/>
              </a:spcAft>
              <a:buSzPts val="1100"/>
              <a:buNone/>
            </a:pPr>
            <a:r>
              <a:rPr lang="en" sz="1000"/>
              <a:t>Post-launch data:</a:t>
            </a:r>
            <a:endParaRPr sz="1000"/>
          </a:p>
          <a:p>
            <a:pPr indent="0" lvl="0" marL="0" rtl="0" algn="l">
              <a:lnSpc>
                <a:spcPct val="100000"/>
              </a:lnSpc>
              <a:spcBef>
                <a:spcPts val="0"/>
              </a:spcBef>
              <a:spcAft>
                <a:spcPts val="0"/>
              </a:spcAft>
              <a:buSzPts val="1100"/>
              <a:buNone/>
            </a:pPr>
            <a:r>
              <a:rPr lang="en" sz="1000"/>
              <a:t>1 - Lacking	1	2%</a:t>
            </a:r>
            <a:endParaRPr sz="1000"/>
          </a:p>
          <a:p>
            <a:pPr indent="0" lvl="0" marL="0" rtl="0" algn="l">
              <a:lnSpc>
                <a:spcPct val="100000"/>
              </a:lnSpc>
              <a:spcBef>
                <a:spcPts val="0"/>
              </a:spcBef>
              <a:spcAft>
                <a:spcPts val="0"/>
              </a:spcAft>
              <a:buSzPts val="1100"/>
              <a:buNone/>
            </a:pPr>
            <a:r>
              <a:rPr lang="en" sz="1000"/>
              <a:t>2		2	4%</a:t>
            </a:r>
            <a:endParaRPr sz="1000"/>
          </a:p>
          <a:p>
            <a:pPr indent="0" lvl="0" marL="0" rtl="0" algn="l">
              <a:lnSpc>
                <a:spcPct val="100000"/>
              </a:lnSpc>
              <a:spcBef>
                <a:spcPts val="0"/>
              </a:spcBef>
              <a:spcAft>
                <a:spcPts val="0"/>
              </a:spcAft>
              <a:buSzPts val="1100"/>
              <a:buNone/>
            </a:pPr>
            <a:r>
              <a:rPr lang="en" sz="1000"/>
              <a:t>3		4	8%</a:t>
            </a:r>
            <a:endParaRPr sz="1000"/>
          </a:p>
          <a:p>
            <a:pPr indent="0" lvl="0" marL="0" rtl="0" algn="l">
              <a:lnSpc>
                <a:spcPct val="100000"/>
              </a:lnSpc>
              <a:spcBef>
                <a:spcPts val="0"/>
              </a:spcBef>
              <a:spcAft>
                <a:spcPts val="0"/>
              </a:spcAft>
              <a:buSzPts val="1100"/>
              <a:buNone/>
            </a:pPr>
            <a:r>
              <a:rPr lang="en" sz="1000"/>
              <a:t>4		22	44%</a:t>
            </a:r>
            <a:endParaRPr sz="1000"/>
          </a:p>
          <a:p>
            <a:pPr indent="0" lvl="0" marL="0" rtl="0" algn="l">
              <a:lnSpc>
                <a:spcPct val="100000"/>
              </a:lnSpc>
              <a:spcBef>
                <a:spcPts val="0"/>
              </a:spcBef>
              <a:spcAft>
                <a:spcPts val="0"/>
              </a:spcAft>
              <a:buSzPts val="1100"/>
              <a:buNone/>
            </a:pPr>
            <a:r>
              <a:rPr lang="en" sz="1000"/>
              <a:t>5 - Great	21	42%</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SzPts val="1100"/>
              <a:buNone/>
            </a:pPr>
            <a:r>
              <a:t/>
            </a:r>
            <a:endParaRP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t>First pie chart: Results from the post-pilot survey</a:t>
            </a:r>
            <a:endParaRPr sz="1000"/>
          </a:p>
          <a:p>
            <a:pPr indent="0" lvl="0" marL="0" rtl="0" algn="l">
              <a:lnSpc>
                <a:spcPct val="100000"/>
              </a:lnSpc>
              <a:spcBef>
                <a:spcPts val="0"/>
              </a:spcBef>
              <a:spcAft>
                <a:spcPts val="0"/>
              </a:spcAft>
              <a:buSzPts val="1100"/>
              <a:buNone/>
            </a:pPr>
            <a:r>
              <a:rPr lang="en" sz="1000"/>
              <a:t>Second pie chart: Results from the post-launch survey, after making changes</a:t>
            </a:r>
            <a:endParaRPr sz="1000"/>
          </a:p>
          <a:p>
            <a:pPr indent="0" lvl="0" marL="0" rtl="0" algn="l">
              <a:lnSpc>
                <a:spcPct val="100000"/>
              </a:lnSpc>
              <a:spcBef>
                <a:spcPts val="0"/>
              </a:spcBef>
              <a:spcAft>
                <a:spcPts val="0"/>
              </a:spcAft>
              <a:buSzPts val="1100"/>
              <a:buNone/>
            </a:pPr>
            <a:r>
              <a:rPr lang="en" sz="1000"/>
              <a:t>Satisfaction has gone up from 72% (4 and 5 rating) to 86% (4 and 5 rating)</a:t>
            </a:r>
            <a:endParaRPr sz="1000"/>
          </a:p>
          <a:p>
            <a:pPr indent="0" lvl="0" marL="0" rtl="0" algn="l">
              <a:lnSpc>
                <a:spcPct val="100000"/>
              </a:lnSpc>
              <a:spcBef>
                <a:spcPts val="0"/>
              </a:spcBef>
              <a:spcAft>
                <a:spcPts val="0"/>
              </a:spcAft>
              <a:buSzPts val="1100"/>
              <a:buNone/>
            </a:pPr>
            <a:r>
              <a:t/>
            </a:r>
            <a:endParaRPr sz="1000"/>
          </a:p>
          <a:p>
            <a:pPr indent="0" lvl="0" marL="0" rtl="0" algn="l">
              <a:lnSpc>
                <a:spcPct val="100000"/>
              </a:lnSpc>
              <a:spcBef>
                <a:spcPts val="0"/>
              </a:spcBef>
              <a:spcAft>
                <a:spcPts val="0"/>
              </a:spcAft>
              <a:buSzPts val="1100"/>
              <a:buNone/>
            </a:pPr>
            <a:r>
              <a:rPr lang="en" sz="1000"/>
              <a:t>Post-pilot data:</a:t>
            </a:r>
            <a:endParaRPr sz="1000"/>
          </a:p>
          <a:p>
            <a:pPr indent="0" lvl="0" marL="0" rtl="0" algn="l">
              <a:lnSpc>
                <a:spcPct val="100000"/>
              </a:lnSpc>
              <a:spcBef>
                <a:spcPts val="0"/>
              </a:spcBef>
              <a:spcAft>
                <a:spcPts val="0"/>
              </a:spcAft>
              <a:buClr>
                <a:schemeClr val="dk1"/>
              </a:buClr>
              <a:buSzPts val="1100"/>
              <a:buFont typeface="Arial"/>
              <a:buNone/>
            </a:pPr>
            <a:r>
              <a:rPr lang="en" sz="1000"/>
              <a:t>1 - Lacking	2	4%</a:t>
            </a:r>
            <a:endParaRPr sz="1000"/>
          </a:p>
          <a:p>
            <a:pPr indent="0" lvl="0" marL="0" rtl="0" algn="l">
              <a:lnSpc>
                <a:spcPct val="100000"/>
              </a:lnSpc>
              <a:spcBef>
                <a:spcPts val="0"/>
              </a:spcBef>
              <a:spcAft>
                <a:spcPts val="0"/>
              </a:spcAft>
              <a:buClr>
                <a:schemeClr val="dk1"/>
              </a:buClr>
              <a:buSzPts val="1100"/>
              <a:buFont typeface="Arial"/>
              <a:buNone/>
            </a:pPr>
            <a:r>
              <a:rPr lang="en" sz="1000"/>
              <a:t>2		5	10%</a:t>
            </a:r>
            <a:endParaRPr sz="1000"/>
          </a:p>
          <a:p>
            <a:pPr indent="0" lvl="0" marL="0" rtl="0" algn="l">
              <a:lnSpc>
                <a:spcPct val="100000"/>
              </a:lnSpc>
              <a:spcBef>
                <a:spcPts val="0"/>
              </a:spcBef>
              <a:spcAft>
                <a:spcPts val="0"/>
              </a:spcAft>
              <a:buClr>
                <a:schemeClr val="dk1"/>
              </a:buClr>
              <a:buSzPts val="1100"/>
              <a:buFont typeface="Arial"/>
              <a:buNone/>
            </a:pPr>
            <a:r>
              <a:rPr lang="en" sz="1000"/>
              <a:t>3		7	14%</a:t>
            </a:r>
            <a:endParaRPr sz="1000"/>
          </a:p>
          <a:p>
            <a:pPr indent="0" lvl="0" marL="0" rtl="0" algn="l">
              <a:lnSpc>
                <a:spcPct val="100000"/>
              </a:lnSpc>
              <a:spcBef>
                <a:spcPts val="0"/>
              </a:spcBef>
              <a:spcAft>
                <a:spcPts val="0"/>
              </a:spcAft>
              <a:buClr>
                <a:schemeClr val="dk1"/>
              </a:buClr>
              <a:buSzPts val="1100"/>
              <a:buFont typeface="Arial"/>
              <a:buNone/>
            </a:pPr>
            <a:r>
              <a:rPr lang="en" sz="1000"/>
              <a:t>4		20	40%</a:t>
            </a:r>
            <a:endParaRPr sz="1000"/>
          </a:p>
          <a:p>
            <a:pPr indent="0" lvl="0" marL="0" rtl="0" algn="l">
              <a:lnSpc>
                <a:spcPct val="100000"/>
              </a:lnSpc>
              <a:spcBef>
                <a:spcPts val="0"/>
              </a:spcBef>
              <a:spcAft>
                <a:spcPts val="0"/>
              </a:spcAft>
              <a:buSzPts val="1100"/>
              <a:buNone/>
            </a:pPr>
            <a:r>
              <a:rPr lang="en" sz="1000"/>
              <a:t>5 - Great	16	32%</a:t>
            </a:r>
            <a:endParaRPr sz="1000"/>
          </a:p>
          <a:p>
            <a:pPr indent="0" lvl="0" marL="0" rtl="0" algn="l">
              <a:lnSpc>
                <a:spcPct val="100000"/>
              </a:lnSpc>
              <a:spcBef>
                <a:spcPts val="0"/>
              </a:spcBef>
              <a:spcAft>
                <a:spcPts val="0"/>
              </a:spcAft>
              <a:buSzPts val="1100"/>
              <a:buNone/>
            </a:pPr>
            <a:r>
              <a:t/>
            </a:r>
            <a:endParaRPr sz="1000"/>
          </a:p>
          <a:p>
            <a:pPr indent="0" lvl="0" marL="0" rtl="0" algn="l">
              <a:lnSpc>
                <a:spcPct val="100000"/>
              </a:lnSpc>
              <a:spcBef>
                <a:spcPts val="0"/>
              </a:spcBef>
              <a:spcAft>
                <a:spcPts val="0"/>
              </a:spcAft>
              <a:buSzPts val="1100"/>
              <a:buNone/>
            </a:pPr>
            <a:r>
              <a:rPr lang="en" sz="1000"/>
              <a:t>Post-launch data:</a:t>
            </a:r>
            <a:endParaRPr sz="1000"/>
          </a:p>
          <a:p>
            <a:pPr indent="0" lvl="0" marL="0" rtl="0" algn="l">
              <a:lnSpc>
                <a:spcPct val="100000"/>
              </a:lnSpc>
              <a:spcBef>
                <a:spcPts val="0"/>
              </a:spcBef>
              <a:spcAft>
                <a:spcPts val="0"/>
              </a:spcAft>
              <a:buSzPts val="1100"/>
              <a:buNone/>
            </a:pPr>
            <a:r>
              <a:rPr lang="en" sz="1000"/>
              <a:t>1 - Lacking	1	2%</a:t>
            </a:r>
            <a:endParaRPr sz="1000"/>
          </a:p>
          <a:p>
            <a:pPr indent="0" lvl="0" marL="0" rtl="0" algn="l">
              <a:lnSpc>
                <a:spcPct val="100000"/>
              </a:lnSpc>
              <a:spcBef>
                <a:spcPts val="0"/>
              </a:spcBef>
              <a:spcAft>
                <a:spcPts val="0"/>
              </a:spcAft>
              <a:buSzPts val="1100"/>
              <a:buNone/>
            </a:pPr>
            <a:r>
              <a:rPr lang="en" sz="1000"/>
              <a:t>2		2	4%</a:t>
            </a:r>
            <a:endParaRPr sz="1000"/>
          </a:p>
          <a:p>
            <a:pPr indent="0" lvl="0" marL="0" rtl="0" algn="l">
              <a:lnSpc>
                <a:spcPct val="100000"/>
              </a:lnSpc>
              <a:spcBef>
                <a:spcPts val="0"/>
              </a:spcBef>
              <a:spcAft>
                <a:spcPts val="0"/>
              </a:spcAft>
              <a:buSzPts val="1100"/>
              <a:buNone/>
            </a:pPr>
            <a:r>
              <a:rPr lang="en" sz="1000"/>
              <a:t>3		4	8%</a:t>
            </a:r>
            <a:endParaRPr sz="1000"/>
          </a:p>
          <a:p>
            <a:pPr indent="0" lvl="0" marL="0" rtl="0" algn="l">
              <a:lnSpc>
                <a:spcPct val="100000"/>
              </a:lnSpc>
              <a:spcBef>
                <a:spcPts val="0"/>
              </a:spcBef>
              <a:spcAft>
                <a:spcPts val="0"/>
              </a:spcAft>
              <a:buSzPts val="1100"/>
              <a:buNone/>
            </a:pPr>
            <a:r>
              <a:rPr lang="en" sz="1000"/>
              <a:t>4		22	44%</a:t>
            </a:r>
            <a:endParaRPr sz="1000"/>
          </a:p>
          <a:p>
            <a:pPr indent="0" lvl="0" marL="0" rtl="0" algn="l">
              <a:lnSpc>
                <a:spcPct val="100000"/>
              </a:lnSpc>
              <a:spcBef>
                <a:spcPts val="0"/>
              </a:spcBef>
              <a:spcAft>
                <a:spcPts val="0"/>
              </a:spcAft>
              <a:buSzPts val="1100"/>
              <a:buNone/>
            </a:pPr>
            <a:r>
              <a:rPr lang="en" sz="1000"/>
              <a:t>5 - Great	21	42%</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SzPts val="1100"/>
              <a:buNone/>
            </a:pPr>
            <a:r>
              <a:t/>
            </a: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t>This is a chart of Sauce &amp; Spoon revenue, showing that after tablet implementation, revenue increased. December revenue was up to 20% over September’s monthly revenue.</a:t>
            </a:r>
            <a:endParaRPr sz="1000"/>
          </a:p>
          <a:p>
            <a:pPr indent="0" lvl="0" marL="0" rtl="0" algn="l">
              <a:lnSpc>
                <a:spcPct val="100000"/>
              </a:lnSpc>
              <a:spcBef>
                <a:spcPts val="0"/>
              </a:spcBef>
              <a:spcAft>
                <a:spcPts val="0"/>
              </a:spcAft>
              <a:buSzPts val="1100"/>
              <a:buNone/>
            </a:pPr>
            <a:r>
              <a:t/>
            </a:r>
            <a:endParaRPr sz="1000"/>
          </a:p>
          <a:p>
            <a:pPr indent="0" lvl="0" marL="0" rtl="0" algn="l">
              <a:lnSpc>
                <a:spcPct val="100000"/>
              </a:lnSpc>
              <a:spcBef>
                <a:spcPts val="0"/>
              </a:spcBef>
              <a:spcAft>
                <a:spcPts val="0"/>
              </a:spcAft>
              <a:buSzPts val="1100"/>
              <a:buNone/>
            </a:pPr>
            <a:r>
              <a:rPr lang="en" sz="1000"/>
              <a:t>Sales data:</a:t>
            </a:r>
            <a:endParaRPr sz="1000"/>
          </a:p>
          <a:p>
            <a:pPr indent="0" lvl="0" marL="0" rtl="0" algn="l">
              <a:lnSpc>
                <a:spcPct val="115000"/>
              </a:lnSpc>
              <a:spcBef>
                <a:spcPts val="0"/>
              </a:spcBef>
              <a:spcAft>
                <a:spcPts val="0"/>
              </a:spcAft>
              <a:buSzPts val="1100"/>
              <a:buNone/>
            </a:pPr>
            <a:r>
              <a:rPr lang="en" sz="1000"/>
              <a:t>October</a:t>
            </a:r>
            <a:endParaRPr sz="1000"/>
          </a:p>
          <a:p>
            <a:pPr indent="0" lvl="0" marL="0" rtl="0" algn="l">
              <a:lnSpc>
                <a:spcPct val="115000"/>
              </a:lnSpc>
              <a:spcBef>
                <a:spcPts val="0"/>
              </a:spcBef>
              <a:spcAft>
                <a:spcPts val="0"/>
              </a:spcAft>
              <a:buSzPts val="1100"/>
              <a:buNone/>
            </a:pPr>
            <a:r>
              <a:rPr lang="en" sz="1000"/>
              <a:t>$61,000.00</a:t>
            </a:r>
            <a:endParaRPr sz="1000"/>
          </a:p>
          <a:p>
            <a:pPr indent="0" lvl="0" marL="0" rtl="0" algn="l">
              <a:lnSpc>
                <a:spcPct val="115000"/>
              </a:lnSpc>
              <a:spcBef>
                <a:spcPts val="0"/>
              </a:spcBef>
              <a:spcAft>
                <a:spcPts val="0"/>
              </a:spcAft>
              <a:buSzPts val="1100"/>
              <a:buNone/>
            </a:pPr>
            <a:r>
              <a:rPr lang="en" sz="1000"/>
              <a:t>November</a:t>
            </a:r>
            <a:endParaRPr sz="1000"/>
          </a:p>
          <a:p>
            <a:pPr indent="0" lvl="0" marL="0" rtl="0" algn="l">
              <a:lnSpc>
                <a:spcPct val="115000"/>
              </a:lnSpc>
              <a:spcBef>
                <a:spcPts val="0"/>
              </a:spcBef>
              <a:spcAft>
                <a:spcPts val="0"/>
              </a:spcAft>
              <a:buSzPts val="1100"/>
              <a:buNone/>
            </a:pPr>
            <a:r>
              <a:rPr lang="en" sz="1000"/>
              <a:t>$62,000.00</a:t>
            </a:r>
            <a:endParaRPr sz="1000"/>
          </a:p>
          <a:p>
            <a:pPr indent="0" lvl="0" marL="0" rtl="0" algn="l">
              <a:lnSpc>
                <a:spcPct val="115000"/>
              </a:lnSpc>
              <a:spcBef>
                <a:spcPts val="0"/>
              </a:spcBef>
              <a:spcAft>
                <a:spcPts val="0"/>
              </a:spcAft>
              <a:buSzPts val="1100"/>
              <a:buNone/>
            </a:pPr>
            <a:r>
              <a:rPr lang="en" sz="1000"/>
              <a:t>December</a:t>
            </a:r>
            <a:endParaRPr sz="1000"/>
          </a:p>
          <a:p>
            <a:pPr indent="0" lvl="0" marL="0" rtl="0" algn="l">
              <a:lnSpc>
                <a:spcPct val="115000"/>
              </a:lnSpc>
              <a:spcBef>
                <a:spcPts val="0"/>
              </a:spcBef>
              <a:spcAft>
                <a:spcPts val="0"/>
              </a:spcAft>
              <a:buSzPts val="1100"/>
              <a:buNone/>
            </a:pPr>
            <a:r>
              <a:rPr lang="en" sz="1000"/>
              <a:t>$62,000.00</a:t>
            </a:r>
            <a:endParaRPr sz="1000"/>
          </a:p>
          <a:p>
            <a:pPr indent="0" lvl="0" marL="0" rtl="0" algn="l">
              <a:lnSpc>
                <a:spcPct val="115000"/>
              </a:lnSpc>
              <a:spcBef>
                <a:spcPts val="0"/>
              </a:spcBef>
              <a:spcAft>
                <a:spcPts val="0"/>
              </a:spcAft>
              <a:buSzPts val="1100"/>
              <a:buNone/>
            </a:pPr>
            <a:r>
              <a:rPr lang="en" sz="1000"/>
              <a:t>January</a:t>
            </a:r>
            <a:endParaRPr sz="1000"/>
          </a:p>
          <a:p>
            <a:pPr indent="0" lvl="0" marL="0" rtl="0" algn="l">
              <a:lnSpc>
                <a:spcPct val="115000"/>
              </a:lnSpc>
              <a:spcBef>
                <a:spcPts val="0"/>
              </a:spcBef>
              <a:spcAft>
                <a:spcPts val="0"/>
              </a:spcAft>
              <a:buSzPts val="1100"/>
              <a:buNone/>
            </a:pPr>
            <a:r>
              <a:rPr lang="en" sz="1000"/>
              <a:t>$63,000.00</a:t>
            </a:r>
            <a:endParaRPr sz="1000"/>
          </a:p>
          <a:p>
            <a:pPr indent="0" lvl="0" marL="0" rtl="0" algn="l">
              <a:lnSpc>
                <a:spcPct val="115000"/>
              </a:lnSpc>
              <a:spcBef>
                <a:spcPts val="0"/>
              </a:spcBef>
              <a:spcAft>
                <a:spcPts val="0"/>
              </a:spcAft>
              <a:buSzPts val="1100"/>
              <a:buNone/>
            </a:pPr>
            <a:r>
              <a:rPr lang="en" sz="1000"/>
              <a:t>February</a:t>
            </a:r>
            <a:endParaRPr sz="1000"/>
          </a:p>
          <a:p>
            <a:pPr indent="0" lvl="0" marL="0" rtl="0" algn="l">
              <a:lnSpc>
                <a:spcPct val="115000"/>
              </a:lnSpc>
              <a:spcBef>
                <a:spcPts val="0"/>
              </a:spcBef>
              <a:spcAft>
                <a:spcPts val="0"/>
              </a:spcAft>
              <a:buSzPts val="1100"/>
              <a:buNone/>
            </a:pPr>
            <a:r>
              <a:rPr lang="en" sz="1000"/>
              <a:t>$64,000.00</a:t>
            </a:r>
            <a:endParaRPr sz="1000"/>
          </a:p>
          <a:p>
            <a:pPr indent="0" lvl="0" marL="0" rtl="0" algn="l">
              <a:lnSpc>
                <a:spcPct val="115000"/>
              </a:lnSpc>
              <a:spcBef>
                <a:spcPts val="0"/>
              </a:spcBef>
              <a:spcAft>
                <a:spcPts val="0"/>
              </a:spcAft>
              <a:buSzPts val="1100"/>
              <a:buNone/>
            </a:pPr>
            <a:r>
              <a:rPr lang="en" sz="1000"/>
              <a:t>March</a:t>
            </a:r>
            <a:endParaRPr sz="1000"/>
          </a:p>
          <a:p>
            <a:pPr indent="0" lvl="0" marL="0" rtl="0" algn="l">
              <a:lnSpc>
                <a:spcPct val="115000"/>
              </a:lnSpc>
              <a:spcBef>
                <a:spcPts val="0"/>
              </a:spcBef>
              <a:spcAft>
                <a:spcPts val="0"/>
              </a:spcAft>
              <a:buSzPts val="1100"/>
              <a:buNone/>
            </a:pPr>
            <a:r>
              <a:rPr lang="en" sz="1000"/>
              <a:t>$61,000.00</a:t>
            </a:r>
            <a:endParaRPr sz="1000"/>
          </a:p>
          <a:p>
            <a:pPr indent="0" lvl="0" marL="0" rtl="0" algn="l">
              <a:lnSpc>
                <a:spcPct val="115000"/>
              </a:lnSpc>
              <a:spcBef>
                <a:spcPts val="0"/>
              </a:spcBef>
              <a:spcAft>
                <a:spcPts val="0"/>
              </a:spcAft>
              <a:buSzPts val="1100"/>
              <a:buNone/>
            </a:pPr>
            <a:r>
              <a:rPr lang="en" sz="1000"/>
              <a:t>April</a:t>
            </a:r>
            <a:endParaRPr sz="1000"/>
          </a:p>
          <a:p>
            <a:pPr indent="0" lvl="0" marL="0" rtl="0" algn="l">
              <a:lnSpc>
                <a:spcPct val="115000"/>
              </a:lnSpc>
              <a:spcBef>
                <a:spcPts val="0"/>
              </a:spcBef>
              <a:spcAft>
                <a:spcPts val="0"/>
              </a:spcAft>
              <a:buSzPts val="1100"/>
              <a:buNone/>
            </a:pPr>
            <a:r>
              <a:rPr lang="en" sz="1000"/>
              <a:t>$65,000.00</a:t>
            </a:r>
            <a:endParaRPr sz="1000"/>
          </a:p>
          <a:p>
            <a:pPr indent="0" lvl="0" marL="0" rtl="0" algn="l">
              <a:lnSpc>
                <a:spcPct val="115000"/>
              </a:lnSpc>
              <a:spcBef>
                <a:spcPts val="0"/>
              </a:spcBef>
              <a:spcAft>
                <a:spcPts val="0"/>
              </a:spcAft>
              <a:buSzPts val="1100"/>
              <a:buNone/>
            </a:pPr>
            <a:r>
              <a:rPr lang="en" sz="1000"/>
              <a:t>May</a:t>
            </a:r>
            <a:endParaRPr sz="1000"/>
          </a:p>
          <a:p>
            <a:pPr indent="0" lvl="0" marL="0" rtl="0" algn="l">
              <a:lnSpc>
                <a:spcPct val="115000"/>
              </a:lnSpc>
              <a:spcBef>
                <a:spcPts val="0"/>
              </a:spcBef>
              <a:spcAft>
                <a:spcPts val="0"/>
              </a:spcAft>
              <a:buSzPts val="1100"/>
              <a:buNone/>
            </a:pPr>
            <a:r>
              <a:rPr lang="en" sz="1000"/>
              <a:t>$70,000.00</a:t>
            </a:r>
            <a:endParaRPr sz="1000"/>
          </a:p>
          <a:p>
            <a:pPr indent="0" lvl="0" marL="0" rtl="0" algn="l">
              <a:lnSpc>
                <a:spcPct val="115000"/>
              </a:lnSpc>
              <a:spcBef>
                <a:spcPts val="0"/>
              </a:spcBef>
              <a:spcAft>
                <a:spcPts val="0"/>
              </a:spcAft>
              <a:buSzPts val="1100"/>
              <a:buNone/>
            </a:pPr>
            <a:r>
              <a:rPr lang="en" sz="1000"/>
              <a:t>June</a:t>
            </a:r>
            <a:endParaRPr sz="1000"/>
          </a:p>
          <a:p>
            <a:pPr indent="0" lvl="0" marL="0" rtl="0" algn="l">
              <a:lnSpc>
                <a:spcPct val="115000"/>
              </a:lnSpc>
              <a:spcBef>
                <a:spcPts val="0"/>
              </a:spcBef>
              <a:spcAft>
                <a:spcPts val="0"/>
              </a:spcAft>
              <a:buSzPts val="1100"/>
              <a:buNone/>
            </a:pPr>
            <a:r>
              <a:rPr lang="en" sz="1000">
                <a:solidFill>
                  <a:schemeClr val="dk1"/>
                </a:solidFill>
              </a:rPr>
              <a:t>$75,000.00</a:t>
            </a:r>
            <a:endParaRPr sz="1000"/>
          </a:p>
          <a:p>
            <a:pPr indent="0" lvl="0" marL="0" rtl="0" algn="l">
              <a:lnSpc>
                <a:spcPct val="100000"/>
              </a:lnSpc>
              <a:spcBef>
                <a:spcPts val="0"/>
              </a:spcBef>
              <a:spcAft>
                <a:spcPts val="0"/>
              </a:spcAft>
              <a:buSzPts val="1100"/>
              <a:buNone/>
            </a:pPr>
            <a:r>
              <a:rPr lang="en" sz="1000"/>
              <a:t>July</a:t>
            </a:r>
            <a:endParaRPr sz="1000"/>
          </a:p>
          <a:p>
            <a:pPr indent="0" lvl="0" marL="0" rtl="0" algn="l">
              <a:lnSpc>
                <a:spcPct val="100000"/>
              </a:lnSpc>
              <a:spcBef>
                <a:spcPts val="0"/>
              </a:spcBef>
              <a:spcAft>
                <a:spcPts val="0"/>
              </a:spcAft>
              <a:buSzPts val="1100"/>
              <a:buNone/>
            </a:pPr>
            <a:r>
              <a:rPr lang="en" sz="1000">
                <a:solidFill>
                  <a:schemeClr val="dk1"/>
                </a:solidFill>
              </a:rPr>
              <a:t>$78,000.00</a:t>
            </a:r>
            <a:endParaRPr sz="1000"/>
          </a:p>
          <a:p>
            <a:pPr indent="0" lvl="0" marL="0" rtl="0" algn="l">
              <a:lnSpc>
                <a:spcPct val="100000"/>
              </a:lnSpc>
              <a:spcBef>
                <a:spcPts val="0"/>
              </a:spcBef>
              <a:spcAft>
                <a:spcPts val="0"/>
              </a:spcAft>
              <a:buSzPts val="1100"/>
              <a:buNone/>
            </a:pPr>
            <a:r>
              <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SzPts val="1100"/>
              <a:buNone/>
            </a:pPr>
            <a:r>
              <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Insert link to your shared drive or a shared folder with all of the relevant project artifacts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 name="Google Shape;13;p3"/>
          <p:cNvGrpSpPr/>
          <p:nvPr/>
        </p:nvGrpSpPr>
        <p:grpSpPr>
          <a:xfrm>
            <a:off x="830392" y="1191256"/>
            <a:ext cx="745763" cy="45826"/>
            <a:chOff x="4580561" y="2589004"/>
            <a:chExt cx="1064464" cy="25200"/>
          </a:xfrm>
        </p:grpSpPr>
        <p:sp>
          <p:nvSpPr>
            <p:cNvPr id="14" name="Google Shape;14;p3"/>
            <p:cNvSpPr/>
            <p:nvPr/>
          </p:nvSpPr>
          <p:spPr>
            <a:xfrm rot="-5400000">
              <a:off x="5366325" y="2335504"/>
              <a:ext cx="25200" cy="532200"/>
            </a:xfrm>
            <a:prstGeom prst="rect">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rot="-5400000">
              <a:off x="4836311" y="2333254"/>
              <a:ext cx="25200" cy="536700"/>
            </a:xfrm>
            <a:prstGeom prst="rect">
              <a:avLst/>
            </a:prstGeom>
            <a:solidFill>
              <a:srgbClr val="4581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17" name="Google Shape;17;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8" name="Google Shape;18;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5818E"/>
        </a:solidFill>
      </p:bgPr>
    </p:bg>
    <p:spTree>
      <p:nvGrpSpPr>
        <p:cNvPr id="19" name="Shape 19"/>
        <p:cNvGrpSpPr/>
        <p:nvPr/>
      </p:nvGrpSpPr>
      <p:grpSpPr>
        <a:xfrm>
          <a:off x="0" y="0"/>
          <a:ext cx="0" cy="0"/>
          <a:chOff x="0" y="0"/>
          <a:chExt cx="0" cy="0"/>
        </a:xfrm>
      </p:grpSpPr>
      <p:grpSp>
        <p:nvGrpSpPr>
          <p:cNvPr id="20" name="Google Shape;20;p4"/>
          <p:cNvGrpSpPr/>
          <p:nvPr/>
        </p:nvGrpSpPr>
        <p:grpSpPr>
          <a:xfrm>
            <a:off x="830392" y="1191256"/>
            <a:ext cx="745763" cy="45826"/>
            <a:chOff x="4580561" y="2589004"/>
            <a:chExt cx="1064464" cy="25200"/>
          </a:xfrm>
        </p:grpSpPr>
        <p:sp>
          <p:nvSpPr>
            <p:cNvPr id="21" name="Google Shape;21;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4" name="Google Shape;24;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25" name="Shape 25"/>
        <p:cNvGrpSpPr/>
        <p:nvPr/>
      </p:nvGrpSpPr>
      <p:grpSpPr>
        <a:xfrm>
          <a:off x="0" y="0"/>
          <a:ext cx="0" cy="0"/>
          <a:chOff x="0" y="0"/>
          <a:chExt cx="0" cy="0"/>
        </a:xfrm>
      </p:grpSpPr>
      <p:sp>
        <p:nvSpPr>
          <p:cNvPr id="26" name="Google Shape;26;p5"/>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5"/>
          <p:cNvGrpSpPr/>
          <p:nvPr/>
        </p:nvGrpSpPr>
        <p:grpSpPr>
          <a:xfrm>
            <a:off x="830392" y="1191256"/>
            <a:ext cx="745763" cy="45826"/>
            <a:chOff x="4580561" y="2589004"/>
            <a:chExt cx="1064464" cy="25200"/>
          </a:xfrm>
        </p:grpSpPr>
        <p:sp>
          <p:nvSpPr>
            <p:cNvPr id="28" name="Google Shape;28;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31" name="Google Shape;31;p5"/>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2" name="Google Shape;32;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6"/>
          <p:cNvGrpSpPr/>
          <p:nvPr/>
        </p:nvGrpSpPr>
        <p:grpSpPr>
          <a:xfrm>
            <a:off x="830392" y="1191256"/>
            <a:ext cx="745763" cy="45826"/>
            <a:chOff x="4580561" y="2589004"/>
            <a:chExt cx="1064464" cy="25200"/>
          </a:xfrm>
        </p:grpSpPr>
        <p:sp>
          <p:nvSpPr>
            <p:cNvPr id="36" name="Google Shape;36;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9" name="Google Shape;39;p6"/>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0" name="Google Shape;40;p6"/>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1" name="Google Shape;41;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 name="Google Shape;44;p7"/>
          <p:cNvGrpSpPr/>
          <p:nvPr/>
        </p:nvGrpSpPr>
        <p:grpSpPr>
          <a:xfrm>
            <a:off x="830392" y="1191256"/>
            <a:ext cx="745763" cy="45826"/>
            <a:chOff x="4580561" y="2589004"/>
            <a:chExt cx="1064464" cy="25200"/>
          </a:xfrm>
        </p:grpSpPr>
        <p:sp>
          <p:nvSpPr>
            <p:cNvPr id="45" name="Google Shape;45;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 name="Google Shape;47;p7"/>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8" name="Google Shape;48;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8"/>
          <p:cNvGrpSpPr/>
          <p:nvPr/>
        </p:nvGrpSpPr>
        <p:grpSpPr>
          <a:xfrm>
            <a:off x="830392" y="1191256"/>
            <a:ext cx="745763" cy="45826"/>
            <a:chOff x="4580561" y="2589004"/>
            <a:chExt cx="1064464" cy="25200"/>
          </a:xfrm>
        </p:grpSpPr>
        <p:sp>
          <p:nvSpPr>
            <p:cNvPr id="52" name="Google Shape;52;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8"/>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8"/>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 name="Google Shape;56;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7" name="Shape 57"/>
        <p:cNvGrpSpPr/>
        <p:nvPr/>
      </p:nvGrpSpPr>
      <p:grpSpPr>
        <a:xfrm>
          <a:off x="0" y="0"/>
          <a:ext cx="0" cy="0"/>
          <a:chOff x="0" y="0"/>
          <a:chExt cx="0" cy="0"/>
        </a:xfrm>
      </p:grpSpPr>
      <p:grpSp>
        <p:nvGrpSpPr>
          <p:cNvPr id="58" name="Google Shape;58;p9"/>
          <p:cNvGrpSpPr/>
          <p:nvPr/>
        </p:nvGrpSpPr>
        <p:grpSpPr>
          <a:xfrm>
            <a:off x="830392" y="4169130"/>
            <a:ext cx="745763" cy="45826"/>
            <a:chOff x="4580561" y="2589004"/>
            <a:chExt cx="1064464" cy="25200"/>
          </a:xfrm>
        </p:grpSpPr>
        <p:sp>
          <p:nvSpPr>
            <p:cNvPr id="59" name="Google Shape;59;p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9"/>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2" name="Google Shape;62;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10"/>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 name="Google Shape;65;p10"/>
          <p:cNvGrpSpPr/>
          <p:nvPr/>
        </p:nvGrpSpPr>
        <p:grpSpPr>
          <a:xfrm>
            <a:off x="830392" y="1191256"/>
            <a:ext cx="745763" cy="45826"/>
            <a:chOff x="4580561" y="2589004"/>
            <a:chExt cx="1064464" cy="25200"/>
          </a:xfrm>
        </p:grpSpPr>
        <p:sp>
          <p:nvSpPr>
            <p:cNvPr id="66" name="Google Shape;66;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0"/>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9" name="Google Shape;69;p10"/>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0" name="Google Shape;70;p10"/>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1" name="Google Shape;71;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1"/>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4" name="Google Shape;74;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12"/>
          <p:cNvGrpSpPr/>
          <p:nvPr/>
        </p:nvGrpSpPr>
        <p:grpSpPr>
          <a:xfrm>
            <a:off x="830392" y="4169130"/>
            <a:ext cx="745763" cy="45826"/>
            <a:chOff x="4580561" y="2589004"/>
            <a:chExt cx="1064464" cy="25200"/>
          </a:xfrm>
        </p:grpSpPr>
        <p:sp>
          <p:nvSpPr>
            <p:cNvPr id="77" name="Google Shape;77;p1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12"/>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12"/>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p:nvPr/>
        </p:nvSpPr>
        <p:spPr>
          <a:xfrm>
            <a:off x="0" y="1014800"/>
            <a:ext cx="9144000" cy="1853400"/>
          </a:xfrm>
          <a:prstGeom prst="rect">
            <a:avLst/>
          </a:prstGeom>
          <a:solidFill>
            <a:srgbClr val="177D8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3"/>
          <p:cNvSpPr/>
          <p:nvPr/>
        </p:nvSpPr>
        <p:spPr>
          <a:xfrm rot="-5400000">
            <a:off x="-2188650" y="2166150"/>
            <a:ext cx="5166000" cy="7887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73763"/>
              </a:solidFill>
              <a:latin typeface="Arial"/>
              <a:ea typeface="Arial"/>
              <a:cs typeface="Arial"/>
              <a:sym typeface="Arial"/>
            </a:endParaRPr>
          </a:p>
        </p:txBody>
      </p:sp>
      <p:sp>
        <p:nvSpPr>
          <p:cNvPr id="88" name="Google Shape;88;p13"/>
          <p:cNvSpPr txBox="1"/>
          <p:nvPr>
            <p:ph idx="4294967295" type="ctrTitle"/>
          </p:nvPr>
        </p:nvSpPr>
        <p:spPr>
          <a:xfrm>
            <a:off x="788700" y="1230275"/>
            <a:ext cx="8355300" cy="808500"/>
          </a:xfrm>
          <a:prstGeom prst="rect">
            <a:avLst/>
          </a:prstGeom>
          <a:noFill/>
          <a:ln>
            <a:noFill/>
          </a:ln>
        </p:spPr>
        <p:txBody>
          <a:bodyPr anchorCtr="0" anchor="t" bIns="91425" lIns="91425" spcFirstLastPara="1" rIns="91425" wrap="square" tIns="91425">
            <a:normAutofit fontScale="90000"/>
          </a:bodyPr>
          <a:lstStyle/>
          <a:p>
            <a:pPr indent="0" lvl="0" marL="0" marR="0" rtl="0" algn="ctr">
              <a:lnSpc>
                <a:spcPct val="100000"/>
              </a:lnSpc>
              <a:spcBef>
                <a:spcPts val="0"/>
              </a:spcBef>
              <a:spcAft>
                <a:spcPts val="0"/>
              </a:spcAft>
              <a:buClr>
                <a:schemeClr val="dk2"/>
              </a:buClr>
              <a:buSzPct val="91503"/>
              <a:buFont typeface="Raleway"/>
              <a:buNone/>
            </a:pPr>
            <a:r>
              <a:rPr b="1" i="0" lang="en" sz="3400" u="none" cap="none" strike="noStrike">
                <a:solidFill>
                  <a:srgbClr val="FFFFFF"/>
                </a:solidFill>
                <a:latin typeface="Arial"/>
                <a:ea typeface="Arial"/>
                <a:cs typeface="Arial"/>
                <a:sym typeface="Arial"/>
              </a:rPr>
              <a:t>Sauce &amp; Spoon </a:t>
            </a:r>
            <a:endParaRPr b="1" i="0" sz="3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chemeClr val="dk2"/>
              </a:buClr>
              <a:buSzPct val="91503"/>
              <a:buFont typeface="Raleway"/>
              <a:buNone/>
            </a:pPr>
            <a:r>
              <a:rPr b="1" i="0" lang="en" sz="3400" u="none" cap="none" strike="noStrike">
                <a:solidFill>
                  <a:srgbClr val="FFFFFF"/>
                </a:solidFill>
                <a:latin typeface="Arial"/>
                <a:ea typeface="Arial"/>
                <a:cs typeface="Arial"/>
                <a:sym typeface="Arial"/>
              </a:rPr>
              <a:t>Tablet Rollout</a:t>
            </a:r>
            <a:endParaRPr b="1" i="0" sz="3400" u="none" cap="none" strike="noStrike">
              <a:solidFill>
                <a:srgbClr val="FFFFFF"/>
              </a:solidFill>
              <a:latin typeface="Arial"/>
              <a:ea typeface="Arial"/>
              <a:cs typeface="Arial"/>
              <a:sym typeface="Arial"/>
            </a:endParaRPr>
          </a:p>
        </p:txBody>
      </p:sp>
      <p:sp>
        <p:nvSpPr>
          <p:cNvPr id="89" name="Google Shape;89;p13"/>
          <p:cNvSpPr txBox="1"/>
          <p:nvPr>
            <p:ph idx="4294967295" type="subTitle"/>
          </p:nvPr>
        </p:nvSpPr>
        <p:spPr>
          <a:xfrm>
            <a:off x="788775" y="2327125"/>
            <a:ext cx="8355300" cy="541200"/>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1200"/>
              </a:spcAft>
              <a:buClr>
                <a:schemeClr val="accent1"/>
              </a:buClr>
              <a:buSzPts val="1300"/>
              <a:buFont typeface="Lato"/>
              <a:buNone/>
            </a:pPr>
            <a:r>
              <a:rPr b="0" i="0" lang="en" sz="2000" u="none" cap="none" strike="noStrike">
                <a:solidFill>
                  <a:srgbClr val="FFFFFF"/>
                </a:solidFill>
                <a:latin typeface="Arial"/>
                <a:ea typeface="Arial"/>
                <a:cs typeface="Arial"/>
                <a:sym typeface="Arial"/>
              </a:rPr>
              <a:t>Impact Report</a:t>
            </a:r>
            <a:endParaRPr b="0" i="0" sz="2000" u="none" cap="none" strike="noStrike">
              <a:solidFill>
                <a:srgbClr val="FFFFFF"/>
              </a:solidFill>
              <a:latin typeface="Arial"/>
              <a:ea typeface="Arial"/>
              <a:cs typeface="Arial"/>
              <a:sym typeface="Arial"/>
            </a:endParaRPr>
          </a:p>
        </p:txBody>
      </p:sp>
      <p:pic>
        <p:nvPicPr>
          <p:cNvPr id="90" name="Google Shape;90;p13"/>
          <p:cNvPicPr preferRelativeResize="0"/>
          <p:nvPr/>
        </p:nvPicPr>
        <p:blipFill rotWithShape="1">
          <a:blip r:embed="rId3">
            <a:alphaModFix/>
          </a:blip>
          <a:srcRect b="0" l="0" r="0" t="0"/>
          <a:stretch/>
        </p:blipFill>
        <p:spPr>
          <a:xfrm>
            <a:off x="4320163" y="3256600"/>
            <a:ext cx="1292374" cy="12923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727650" y="5612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34343"/>
                </a:solidFill>
                <a:latin typeface="Arial"/>
                <a:ea typeface="Arial"/>
                <a:cs typeface="Arial"/>
                <a:sym typeface="Arial"/>
              </a:rPr>
              <a:t>Executive Summary</a:t>
            </a:r>
            <a:endParaRPr>
              <a:solidFill>
                <a:srgbClr val="434343"/>
              </a:solidFill>
              <a:latin typeface="Arial"/>
              <a:ea typeface="Arial"/>
              <a:cs typeface="Arial"/>
              <a:sym typeface="Arial"/>
            </a:endParaRPr>
          </a:p>
        </p:txBody>
      </p:sp>
      <p:sp>
        <p:nvSpPr>
          <p:cNvPr id="96" name="Google Shape;96;p14"/>
          <p:cNvSpPr txBox="1"/>
          <p:nvPr>
            <p:ph idx="1" type="body"/>
          </p:nvPr>
        </p:nvSpPr>
        <p:spPr>
          <a:xfrm>
            <a:off x="769500" y="1598525"/>
            <a:ext cx="7688700" cy="3082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n">
                <a:latin typeface="Arial"/>
                <a:ea typeface="Arial"/>
                <a:cs typeface="Arial"/>
                <a:sym typeface="Arial"/>
              </a:rPr>
              <a:t>In order to reach annual growth and expansion goals, Sauce &amp; Spoon installed tabletop tablet menus at the Downtown and North locations, with the tablets going live to guests on October 15. After sourcing and installing the tablets, training the staff, and a successful test run, we launched a pilot of the tablets, and gathered customer feedback through a survey that appeared on their devices at the end of their meal. Using that information, we implemented improvements to the operations, including continued waitstaff training, tablet audits to surface faulty devices, investigating instances of food waste, and more.</a:t>
            </a:r>
            <a:endParaRPr>
              <a:latin typeface="Arial"/>
              <a:ea typeface="Arial"/>
              <a:cs typeface="Arial"/>
              <a:sym typeface="Arial"/>
            </a:endParaRPr>
          </a:p>
          <a:p>
            <a:pPr indent="0" lvl="0" marL="0" rtl="0" algn="l">
              <a:lnSpc>
                <a:spcPct val="115000"/>
              </a:lnSpc>
              <a:spcBef>
                <a:spcPts val="1200"/>
              </a:spcBef>
              <a:spcAft>
                <a:spcPts val="1200"/>
              </a:spcAft>
              <a:buSzPts val="1300"/>
              <a:buNone/>
            </a:pPr>
            <a:r>
              <a:rPr lang="en">
                <a:latin typeface="Arial"/>
                <a:ea typeface="Arial"/>
                <a:cs typeface="Arial"/>
                <a:sym typeface="Arial"/>
              </a:rPr>
              <a:t>Now that we’ve officially launched the tablets, we’ve increased the average daily guest count by 10%, decreased wait time by 30 minutes, cut checkout time down to one minute, and decreased food waste by 50%. Sales have gone up upwards of 20% since the rollout. Customer satisfaction has also increased from 72% after the initial pilot to 86% today. This, of course, shows us that there’s still room for improvement, which we will continue to make as we explore rolling out tablets to other Sauce &amp; Spoon locations in the near future.</a:t>
            </a:r>
            <a:endParaRPr sz="1400">
              <a:latin typeface="Arial"/>
              <a:ea typeface="Arial"/>
              <a:cs typeface="Arial"/>
              <a:sym typeface="Arial"/>
            </a:endParaRPr>
          </a:p>
        </p:txBody>
      </p:sp>
      <p:pic>
        <p:nvPicPr>
          <p:cNvPr id="97" name="Google Shape;97;p14"/>
          <p:cNvPicPr preferRelativeResize="0"/>
          <p:nvPr/>
        </p:nvPicPr>
        <p:blipFill rotWithShape="1">
          <a:blip r:embed="rId3">
            <a:alphaModFix/>
          </a:blip>
          <a:srcRect b="0" l="0" r="0" t="0"/>
          <a:stretch/>
        </p:blipFill>
        <p:spPr>
          <a:xfrm>
            <a:off x="8553000" y="4552500"/>
            <a:ext cx="590995" cy="5909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727650" y="5549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34343"/>
                </a:solidFill>
                <a:latin typeface="Arial"/>
                <a:ea typeface="Arial"/>
                <a:cs typeface="Arial"/>
                <a:sym typeface="Arial"/>
              </a:rPr>
              <a:t>Customer Satisfaction: Pilot</a:t>
            </a:r>
            <a:endParaRPr>
              <a:solidFill>
                <a:srgbClr val="434343"/>
              </a:solidFill>
              <a:latin typeface="Arial"/>
              <a:ea typeface="Arial"/>
              <a:cs typeface="Arial"/>
              <a:sym typeface="Arial"/>
            </a:endParaRPr>
          </a:p>
        </p:txBody>
      </p:sp>
      <p:pic>
        <p:nvPicPr>
          <p:cNvPr id="103" name="Google Shape;103;p15"/>
          <p:cNvPicPr preferRelativeResize="0"/>
          <p:nvPr/>
        </p:nvPicPr>
        <p:blipFill rotWithShape="1">
          <a:blip r:embed="rId3">
            <a:alphaModFix/>
          </a:blip>
          <a:srcRect b="0" l="0" r="0" t="0"/>
          <a:stretch/>
        </p:blipFill>
        <p:spPr>
          <a:xfrm>
            <a:off x="8553000" y="4552500"/>
            <a:ext cx="590995" cy="590995"/>
          </a:xfrm>
          <a:prstGeom prst="rect">
            <a:avLst/>
          </a:prstGeom>
          <a:noFill/>
          <a:ln>
            <a:noFill/>
          </a:ln>
        </p:spPr>
      </p:pic>
      <p:sp>
        <p:nvSpPr>
          <p:cNvPr id="104" name="Google Shape;104;p15"/>
          <p:cNvSpPr txBox="1"/>
          <p:nvPr/>
        </p:nvSpPr>
        <p:spPr>
          <a:xfrm>
            <a:off x="822300" y="1331175"/>
            <a:ext cx="7499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Q. On a scale of 1-5, please rate your experience with the tablet overall.</a:t>
            </a:r>
            <a:endParaRPr b="0" i="0" sz="1600" u="none" cap="none" strike="noStrike">
              <a:solidFill>
                <a:srgbClr val="000000"/>
              </a:solidFill>
              <a:latin typeface="Arial"/>
              <a:ea typeface="Arial"/>
              <a:cs typeface="Arial"/>
              <a:sym typeface="Arial"/>
            </a:endParaRPr>
          </a:p>
        </p:txBody>
      </p:sp>
      <p:pic>
        <p:nvPicPr>
          <p:cNvPr id="105" name="Google Shape;105;p15"/>
          <p:cNvPicPr preferRelativeResize="0"/>
          <p:nvPr/>
        </p:nvPicPr>
        <p:blipFill rotWithShape="1">
          <a:blip r:embed="rId4">
            <a:alphaModFix/>
          </a:blip>
          <a:srcRect b="3458" l="12205" r="11887" t="3075"/>
          <a:stretch/>
        </p:blipFill>
        <p:spPr>
          <a:xfrm>
            <a:off x="2879508" y="1786725"/>
            <a:ext cx="3384979" cy="2505150"/>
          </a:xfrm>
          <a:prstGeom prst="rect">
            <a:avLst/>
          </a:prstGeom>
          <a:noFill/>
          <a:ln>
            <a:noFill/>
          </a:ln>
        </p:spPr>
      </p:pic>
      <p:sp>
        <p:nvSpPr>
          <p:cNvPr id="106" name="Google Shape;106;p15"/>
          <p:cNvSpPr txBox="1"/>
          <p:nvPr/>
        </p:nvSpPr>
        <p:spPr>
          <a:xfrm>
            <a:off x="1054950" y="4362525"/>
            <a:ext cx="70341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This pie chart illustrates the results from the post-pilot survey.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72% of respondents indicated a customer satisfaction score of 4 or 5.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727650" y="5549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34343"/>
                </a:solidFill>
                <a:latin typeface="Arial"/>
                <a:ea typeface="Arial"/>
                <a:cs typeface="Arial"/>
                <a:sym typeface="Arial"/>
              </a:rPr>
              <a:t>Customer Satisfaction: Launch</a:t>
            </a:r>
            <a:endParaRPr>
              <a:solidFill>
                <a:srgbClr val="434343"/>
              </a:solidFill>
              <a:latin typeface="Arial"/>
              <a:ea typeface="Arial"/>
              <a:cs typeface="Arial"/>
              <a:sym typeface="Arial"/>
            </a:endParaRPr>
          </a:p>
        </p:txBody>
      </p:sp>
      <p:pic>
        <p:nvPicPr>
          <p:cNvPr id="112" name="Google Shape;112;p16"/>
          <p:cNvPicPr preferRelativeResize="0"/>
          <p:nvPr/>
        </p:nvPicPr>
        <p:blipFill rotWithShape="1">
          <a:blip r:embed="rId3">
            <a:alphaModFix/>
          </a:blip>
          <a:srcRect b="0" l="0" r="0" t="0"/>
          <a:stretch/>
        </p:blipFill>
        <p:spPr>
          <a:xfrm>
            <a:off x="8553000" y="4552500"/>
            <a:ext cx="590995" cy="590995"/>
          </a:xfrm>
          <a:prstGeom prst="rect">
            <a:avLst/>
          </a:prstGeom>
          <a:noFill/>
          <a:ln>
            <a:noFill/>
          </a:ln>
        </p:spPr>
      </p:pic>
      <p:sp>
        <p:nvSpPr>
          <p:cNvPr id="113" name="Google Shape;113;p16"/>
          <p:cNvSpPr txBox="1"/>
          <p:nvPr/>
        </p:nvSpPr>
        <p:spPr>
          <a:xfrm>
            <a:off x="822300" y="1290525"/>
            <a:ext cx="7499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Q. On a scale of 1-5, please rate your experience with the tablet overall.</a:t>
            </a:r>
            <a:endParaRPr b="0" i="0" sz="1600" u="none" cap="none" strike="noStrike">
              <a:solidFill>
                <a:srgbClr val="000000"/>
              </a:solidFill>
              <a:latin typeface="Arial"/>
              <a:ea typeface="Arial"/>
              <a:cs typeface="Arial"/>
              <a:sym typeface="Arial"/>
            </a:endParaRPr>
          </a:p>
        </p:txBody>
      </p:sp>
      <p:pic>
        <p:nvPicPr>
          <p:cNvPr id="114" name="Google Shape;114;p16"/>
          <p:cNvPicPr preferRelativeResize="0"/>
          <p:nvPr/>
        </p:nvPicPr>
        <p:blipFill rotWithShape="1">
          <a:blip r:embed="rId4">
            <a:alphaModFix/>
          </a:blip>
          <a:srcRect b="3270" l="3449" r="8968" t="3261"/>
          <a:stretch/>
        </p:blipFill>
        <p:spPr>
          <a:xfrm>
            <a:off x="2431727" y="1718238"/>
            <a:ext cx="4020351" cy="2585750"/>
          </a:xfrm>
          <a:prstGeom prst="rect">
            <a:avLst/>
          </a:prstGeom>
          <a:noFill/>
          <a:ln>
            <a:noFill/>
          </a:ln>
        </p:spPr>
      </p:pic>
      <p:sp>
        <p:nvSpPr>
          <p:cNvPr id="115" name="Google Shape;115;p16"/>
          <p:cNvSpPr txBox="1"/>
          <p:nvPr/>
        </p:nvSpPr>
        <p:spPr>
          <a:xfrm>
            <a:off x="1145025" y="4346800"/>
            <a:ext cx="7034100" cy="531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This pie chart illustrates the results from the post-launch survey.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86% of respondents indicated a customer satisfaction score of 4 or 5. This is a 14% increase.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727650" y="5549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34343"/>
                </a:solidFill>
                <a:latin typeface="Arial"/>
                <a:ea typeface="Arial"/>
                <a:cs typeface="Arial"/>
                <a:sym typeface="Arial"/>
              </a:rPr>
              <a:t>Revenue</a:t>
            </a:r>
            <a:endParaRPr>
              <a:solidFill>
                <a:srgbClr val="434343"/>
              </a:solidFill>
              <a:latin typeface="Arial"/>
              <a:ea typeface="Arial"/>
              <a:cs typeface="Arial"/>
              <a:sym typeface="Arial"/>
            </a:endParaRPr>
          </a:p>
        </p:txBody>
      </p:sp>
      <p:pic>
        <p:nvPicPr>
          <p:cNvPr id="121" name="Google Shape;121;p17"/>
          <p:cNvPicPr preferRelativeResize="0"/>
          <p:nvPr/>
        </p:nvPicPr>
        <p:blipFill rotWithShape="1">
          <a:blip r:embed="rId3">
            <a:alphaModFix/>
          </a:blip>
          <a:srcRect b="0" l="0" r="0" t="0"/>
          <a:stretch/>
        </p:blipFill>
        <p:spPr>
          <a:xfrm>
            <a:off x="8553000" y="4552500"/>
            <a:ext cx="590995" cy="590995"/>
          </a:xfrm>
          <a:prstGeom prst="rect">
            <a:avLst/>
          </a:prstGeom>
          <a:noFill/>
          <a:ln>
            <a:noFill/>
          </a:ln>
        </p:spPr>
      </p:pic>
      <p:sp>
        <p:nvSpPr>
          <p:cNvPr id="122" name="Google Shape;122;p17"/>
          <p:cNvSpPr txBox="1"/>
          <p:nvPr/>
        </p:nvSpPr>
        <p:spPr>
          <a:xfrm>
            <a:off x="6111550" y="816425"/>
            <a:ext cx="20643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Tablet Launch April 23</a:t>
            </a:r>
            <a:endParaRPr b="1" i="0" sz="1300" u="none" cap="none" strike="noStrike">
              <a:solidFill>
                <a:srgbClr val="000000"/>
              </a:solidFill>
              <a:latin typeface="Arial"/>
              <a:ea typeface="Arial"/>
              <a:cs typeface="Arial"/>
              <a:sym typeface="Arial"/>
            </a:endParaRPr>
          </a:p>
        </p:txBody>
      </p:sp>
      <p:pic>
        <p:nvPicPr>
          <p:cNvPr id="123" name="Google Shape;123;p17" title="Chart"/>
          <p:cNvPicPr preferRelativeResize="0"/>
          <p:nvPr/>
        </p:nvPicPr>
        <p:blipFill rotWithShape="1">
          <a:blip r:embed="rId4">
            <a:alphaModFix/>
          </a:blip>
          <a:srcRect b="0" l="0" r="0" t="0"/>
          <a:stretch/>
        </p:blipFill>
        <p:spPr>
          <a:xfrm>
            <a:off x="957200" y="1600775"/>
            <a:ext cx="7034100" cy="2864625"/>
          </a:xfrm>
          <a:prstGeom prst="rect">
            <a:avLst/>
          </a:prstGeom>
          <a:noFill/>
          <a:ln cap="flat" cmpd="sng" w="9525">
            <a:solidFill>
              <a:srgbClr val="B7B7B7"/>
            </a:solidFill>
            <a:prstDash val="solid"/>
            <a:round/>
            <a:headEnd len="sm" w="sm" type="none"/>
            <a:tailEnd len="sm" w="sm" type="none"/>
          </a:ln>
        </p:spPr>
      </p:pic>
      <p:cxnSp>
        <p:nvCxnSpPr>
          <p:cNvPr id="124" name="Google Shape;124;p17"/>
          <p:cNvCxnSpPr>
            <a:endCxn id="125" idx="7"/>
          </p:cNvCxnSpPr>
          <p:nvPr/>
        </p:nvCxnSpPr>
        <p:spPr>
          <a:xfrm flipH="1">
            <a:off x="6070302" y="1191868"/>
            <a:ext cx="816900" cy="1619100"/>
          </a:xfrm>
          <a:prstGeom prst="straightConnector1">
            <a:avLst/>
          </a:prstGeom>
          <a:noFill/>
          <a:ln cap="flat" cmpd="sng" w="19050">
            <a:solidFill>
              <a:schemeClr val="dk2"/>
            </a:solidFill>
            <a:prstDash val="solid"/>
            <a:round/>
            <a:headEnd len="sm" w="sm" type="none"/>
            <a:tailEnd len="med" w="med" type="triangle"/>
          </a:ln>
        </p:spPr>
      </p:cxnSp>
      <p:sp>
        <p:nvSpPr>
          <p:cNvPr id="125" name="Google Shape;125;p17"/>
          <p:cNvSpPr/>
          <p:nvPr/>
        </p:nvSpPr>
        <p:spPr>
          <a:xfrm>
            <a:off x="5952000" y="2793350"/>
            <a:ext cx="138600" cy="120300"/>
          </a:xfrm>
          <a:prstGeom prst="ellipse">
            <a:avLst/>
          </a:prstGeom>
          <a:solidFill>
            <a:srgbClr val="1782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7"/>
          <p:cNvSpPr txBox="1"/>
          <p:nvPr/>
        </p:nvSpPr>
        <p:spPr>
          <a:xfrm>
            <a:off x="957200" y="4470425"/>
            <a:ext cx="70341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This is a chart of Sauce &amp; Spoon revenue, showing that after tablet implementation, revenue increased.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July revenue was up to 20% over April’s monthly revenue.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727650" y="5605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34343"/>
                </a:solidFill>
                <a:latin typeface="Arial"/>
                <a:ea typeface="Arial"/>
                <a:cs typeface="Arial"/>
                <a:sym typeface="Arial"/>
              </a:rPr>
              <a:t>What Worked: Key Accomplishments</a:t>
            </a:r>
            <a:endParaRPr>
              <a:solidFill>
                <a:srgbClr val="434343"/>
              </a:solidFill>
              <a:latin typeface="Arial"/>
              <a:ea typeface="Arial"/>
              <a:cs typeface="Arial"/>
              <a:sym typeface="Arial"/>
            </a:endParaRPr>
          </a:p>
        </p:txBody>
      </p:sp>
      <p:sp>
        <p:nvSpPr>
          <p:cNvPr id="132" name="Google Shape;132;p18"/>
          <p:cNvSpPr txBox="1"/>
          <p:nvPr>
            <p:ph idx="1" type="body"/>
          </p:nvPr>
        </p:nvSpPr>
        <p:spPr>
          <a:xfrm>
            <a:off x="729450" y="1469275"/>
            <a:ext cx="3443100" cy="28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sz="1200">
                <a:latin typeface="Arial"/>
                <a:ea typeface="Arial"/>
                <a:cs typeface="Arial"/>
                <a:sym typeface="Arial"/>
              </a:rPr>
              <a:t>Decreased table turn time </a:t>
            </a:r>
            <a:endParaRPr b="1"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Implementation of the tablets increased the average daily guest count by 10%.</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Tablets also decreased wait time by 30 minutes.</a:t>
            </a:r>
            <a:endParaRPr sz="1200">
              <a:latin typeface="Arial"/>
              <a:ea typeface="Arial"/>
              <a:cs typeface="Arial"/>
              <a:sym typeface="Arial"/>
            </a:endParaRPr>
          </a:p>
          <a:p>
            <a:pPr indent="0" lvl="0" marL="0" rtl="0" algn="l">
              <a:lnSpc>
                <a:spcPct val="115000"/>
              </a:lnSpc>
              <a:spcBef>
                <a:spcPts val="1200"/>
              </a:spcBef>
              <a:spcAft>
                <a:spcPts val="0"/>
              </a:spcAft>
              <a:buSzPts val="1300"/>
              <a:buNone/>
            </a:pPr>
            <a:r>
              <a:rPr b="1" lang="en" sz="1200">
                <a:latin typeface="Arial"/>
                <a:ea typeface="Arial"/>
                <a:cs typeface="Arial"/>
                <a:sym typeface="Arial"/>
              </a:rPr>
              <a:t>Decreased food waste</a:t>
            </a:r>
            <a:endParaRPr b="1"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Tablets identified who was receiving an incorrect order.</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Kitchen staff has taken the initiative to correct orders and decrease food waste by 50%.</a:t>
            </a:r>
            <a:endParaRPr sz="1200">
              <a:latin typeface="Arial"/>
              <a:ea typeface="Arial"/>
              <a:cs typeface="Arial"/>
              <a:sym typeface="Arial"/>
            </a:endParaRPr>
          </a:p>
        </p:txBody>
      </p:sp>
      <p:pic>
        <p:nvPicPr>
          <p:cNvPr id="133" name="Google Shape;133;p18"/>
          <p:cNvPicPr preferRelativeResize="0"/>
          <p:nvPr/>
        </p:nvPicPr>
        <p:blipFill rotWithShape="1">
          <a:blip r:embed="rId3">
            <a:alphaModFix/>
          </a:blip>
          <a:srcRect b="0" l="0" r="0" t="0"/>
          <a:stretch/>
        </p:blipFill>
        <p:spPr>
          <a:xfrm>
            <a:off x="8553000" y="4552500"/>
            <a:ext cx="590995" cy="590995"/>
          </a:xfrm>
          <a:prstGeom prst="rect">
            <a:avLst/>
          </a:prstGeom>
          <a:noFill/>
          <a:ln>
            <a:noFill/>
          </a:ln>
        </p:spPr>
      </p:pic>
      <p:sp>
        <p:nvSpPr>
          <p:cNvPr id="134" name="Google Shape;134;p18"/>
          <p:cNvSpPr txBox="1"/>
          <p:nvPr/>
        </p:nvSpPr>
        <p:spPr>
          <a:xfrm>
            <a:off x="4916275" y="1483600"/>
            <a:ext cx="3636600" cy="3167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chemeClr val="accent1"/>
                </a:solidFill>
                <a:latin typeface="Arial"/>
                <a:ea typeface="Arial"/>
                <a:cs typeface="Arial"/>
                <a:sym typeface="Arial"/>
              </a:rPr>
              <a:t>Increased customer satisfaction</a:t>
            </a:r>
            <a:endParaRPr b="1" i="0" sz="1200" u="none" cap="none" strike="noStrike">
              <a:solidFill>
                <a:schemeClr val="accent1"/>
              </a:solidFill>
              <a:latin typeface="Arial"/>
              <a:ea typeface="Arial"/>
              <a:cs typeface="Arial"/>
              <a:sym typeface="Arial"/>
            </a:endParaRPr>
          </a:p>
          <a:p>
            <a:pPr indent="-304800" lvl="0" marL="457200" marR="0" rtl="0" algn="l">
              <a:lnSpc>
                <a:spcPct val="115000"/>
              </a:lnSpc>
              <a:spcBef>
                <a:spcPts val="1200"/>
              </a:spcBef>
              <a:spcAft>
                <a:spcPts val="0"/>
              </a:spcAft>
              <a:buClr>
                <a:schemeClr val="accent1"/>
              </a:buClr>
              <a:buSzPts val="1200"/>
              <a:buFont typeface="Arial"/>
              <a:buChar char="●"/>
            </a:pPr>
            <a:r>
              <a:rPr b="0" i="0" lang="en" sz="1200" u="none" cap="none" strike="noStrike">
                <a:solidFill>
                  <a:schemeClr val="accent1"/>
                </a:solidFill>
                <a:latin typeface="Arial"/>
                <a:ea typeface="Arial"/>
                <a:cs typeface="Arial"/>
                <a:sym typeface="Arial"/>
              </a:rPr>
              <a:t>After the pilot, customer satisfaction was at 72%.</a:t>
            </a:r>
            <a:endParaRPr b="0" i="0" sz="1200" u="none" cap="none" strike="noStrike">
              <a:solidFill>
                <a:schemeClr val="accent1"/>
              </a:solidFill>
              <a:latin typeface="Arial"/>
              <a:ea typeface="Arial"/>
              <a:cs typeface="Arial"/>
              <a:sym typeface="Arial"/>
            </a:endParaRPr>
          </a:p>
          <a:p>
            <a:pPr indent="-304800" lvl="0" marL="457200" marR="0" rtl="0" algn="l">
              <a:lnSpc>
                <a:spcPct val="115000"/>
              </a:lnSpc>
              <a:spcBef>
                <a:spcPts val="0"/>
              </a:spcBef>
              <a:spcAft>
                <a:spcPts val="0"/>
              </a:spcAft>
              <a:buClr>
                <a:schemeClr val="accent1"/>
              </a:buClr>
              <a:buSzPts val="1200"/>
              <a:buFont typeface="Arial"/>
              <a:buChar char="●"/>
            </a:pPr>
            <a:r>
              <a:rPr b="0" i="0" lang="en" sz="1200" u="none" cap="none" strike="noStrike">
                <a:solidFill>
                  <a:schemeClr val="accent1"/>
                </a:solidFill>
                <a:latin typeface="Arial"/>
                <a:ea typeface="Arial"/>
                <a:cs typeface="Arial"/>
                <a:sym typeface="Arial"/>
              </a:rPr>
              <a:t>Once we implemented improvements based on feedback, customer satisfaction increased to 86%.</a:t>
            </a:r>
            <a:endParaRPr b="0" i="0" sz="1200" u="none"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rPr b="1" i="0" lang="en" sz="1200" u="none" cap="none" strike="noStrike">
                <a:solidFill>
                  <a:schemeClr val="accent1"/>
                </a:solidFill>
                <a:latin typeface="Arial"/>
                <a:ea typeface="Arial"/>
                <a:cs typeface="Arial"/>
                <a:sym typeface="Arial"/>
              </a:rPr>
              <a:t>Increased sales</a:t>
            </a:r>
            <a:endParaRPr b="1" i="0" sz="1200" u="none" cap="none" strike="noStrike">
              <a:solidFill>
                <a:schemeClr val="accent1"/>
              </a:solidFill>
              <a:latin typeface="Arial"/>
              <a:ea typeface="Arial"/>
              <a:cs typeface="Arial"/>
              <a:sym typeface="Arial"/>
            </a:endParaRPr>
          </a:p>
          <a:p>
            <a:pPr indent="-304800" lvl="0" marL="457200" marR="0" rtl="0" algn="l">
              <a:lnSpc>
                <a:spcPct val="115000"/>
              </a:lnSpc>
              <a:spcBef>
                <a:spcPts val="1200"/>
              </a:spcBef>
              <a:spcAft>
                <a:spcPts val="0"/>
              </a:spcAft>
              <a:buClr>
                <a:schemeClr val="accent1"/>
              </a:buClr>
              <a:buSzPts val="1200"/>
              <a:buFont typeface="Arial"/>
              <a:buChar char="●"/>
            </a:pPr>
            <a:r>
              <a:rPr b="0" i="0" lang="en" sz="1200" u="none" cap="none" strike="noStrike">
                <a:solidFill>
                  <a:schemeClr val="accent1"/>
                </a:solidFill>
                <a:latin typeface="Arial"/>
                <a:ea typeface="Arial"/>
                <a:cs typeface="Arial"/>
                <a:sym typeface="Arial"/>
              </a:rPr>
              <a:t>Our monthly revenue has increased steadily since the tablet rollout, upwards of 20% since September/pre-rollout.</a:t>
            </a:r>
            <a:endParaRPr b="0" i="0" sz="1200" u="none" cap="none" strike="noStrike">
              <a:solidFill>
                <a:schemeClr val="accent1"/>
              </a:solidFill>
              <a:latin typeface="Arial"/>
              <a:ea typeface="Arial"/>
              <a:cs typeface="Arial"/>
              <a:sym typeface="Arial"/>
            </a:endParaRPr>
          </a:p>
          <a:p>
            <a:pPr indent="-304800" lvl="0" marL="457200" marR="0" rtl="0" algn="l">
              <a:lnSpc>
                <a:spcPct val="115000"/>
              </a:lnSpc>
              <a:spcBef>
                <a:spcPts val="0"/>
              </a:spcBef>
              <a:spcAft>
                <a:spcPts val="0"/>
              </a:spcAft>
              <a:buClr>
                <a:schemeClr val="accent1"/>
              </a:buClr>
              <a:buSzPts val="1200"/>
              <a:buFont typeface="Arial"/>
              <a:buChar char="●"/>
            </a:pPr>
            <a:r>
              <a:rPr b="0" i="0" lang="en" sz="1200" u="none" cap="none" strike="noStrike">
                <a:solidFill>
                  <a:schemeClr val="accent1"/>
                </a:solidFill>
                <a:latin typeface="Arial"/>
                <a:ea typeface="Arial"/>
                <a:cs typeface="Arial"/>
                <a:sym typeface="Arial"/>
              </a:rPr>
              <a:t>Tablets also helped boost revenue during the holiday season.</a:t>
            </a:r>
            <a:endParaRPr b="0" i="0" sz="1200" u="none" cap="none" strike="noStrike">
              <a:solidFill>
                <a:schemeClr val="accen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727650" y="5474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34343"/>
                </a:solidFill>
                <a:latin typeface="Arial"/>
                <a:ea typeface="Arial"/>
                <a:cs typeface="Arial"/>
                <a:sym typeface="Arial"/>
              </a:rPr>
              <a:t>Next Steps: Looking Forward</a:t>
            </a:r>
            <a:endParaRPr>
              <a:solidFill>
                <a:srgbClr val="434343"/>
              </a:solidFill>
              <a:latin typeface="Arial"/>
              <a:ea typeface="Arial"/>
              <a:cs typeface="Arial"/>
              <a:sym typeface="Arial"/>
            </a:endParaRPr>
          </a:p>
        </p:txBody>
      </p:sp>
      <p:pic>
        <p:nvPicPr>
          <p:cNvPr id="140" name="Google Shape;140;p19"/>
          <p:cNvPicPr preferRelativeResize="0"/>
          <p:nvPr/>
        </p:nvPicPr>
        <p:blipFill rotWithShape="1">
          <a:blip r:embed="rId3">
            <a:alphaModFix/>
          </a:blip>
          <a:srcRect b="0" l="0" r="0" t="0"/>
          <a:stretch/>
        </p:blipFill>
        <p:spPr>
          <a:xfrm>
            <a:off x="8553000" y="4552500"/>
            <a:ext cx="590995" cy="590995"/>
          </a:xfrm>
          <a:prstGeom prst="rect">
            <a:avLst/>
          </a:prstGeom>
          <a:noFill/>
          <a:ln>
            <a:noFill/>
          </a:ln>
        </p:spPr>
      </p:pic>
      <p:graphicFrame>
        <p:nvGraphicFramePr>
          <p:cNvPr id="141" name="Google Shape;141;p19"/>
          <p:cNvGraphicFramePr/>
          <p:nvPr/>
        </p:nvGraphicFramePr>
        <p:xfrm>
          <a:off x="952500" y="1527195"/>
          <a:ext cx="3000000" cy="3000000"/>
        </p:xfrm>
        <a:graphic>
          <a:graphicData uri="http://schemas.openxmlformats.org/drawingml/2006/table">
            <a:tbl>
              <a:tblPr>
                <a:noFill/>
                <a:tableStyleId>{2C2A2A8E-4711-4502-8F95-6380EFE6F4D0}</a:tableStyleId>
              </a:tblPr>
              <a:tblGrid>
                <a:gridCol w="2413000"/>
                <a:gridCol w="2413000"/>
                <a:gridCol w="2413000"/>
              </a:tblGrid>
              <a:tr h="643825">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Initiative</a:t>
                      </a:r>
                      <a:endParaRPr b="1" sz="17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Action</a:t>
                      </a:r>
                      <a:endParaRPr b="1" sz="1700" u="none" cap="none" strike="noStrike"/>
                    </a:p>
                  </a:txBody>
                  <a:tcPr marT="91425" marB="91425" marR="91425" marL="91425" anchor="ctr">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t>Date</a:t>
                      </a:r>
                      <a:endParaRPr b="1" sz="1700" u="none" cap="none" strike="noStrike"/>
                    </a:p>
                  </a:txBody>
                  <a:tcPr marT="91425" marB="91425" marR="91425" marL="91425" anchor="ctr">
                    <a:solidFill>
                      <a:srgbClr val="D9D9D9"/>
                    </a:solidFill>
                  </a:tcPr>
                </a:tc>
              </a:tr>
              <a:tr h="68015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Implement tablets in more locations</a:t>
                      </a:r>
                      <a:endParaRPr sz="13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Create new project plan for new location installation</a:t>
                      </a:r>
                      <a:endParaRPr sz="13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Q2</a:t>
                      </a:r>
                      <a:endParaRPr sz="1300" u="none" cap="none" strike="noStrike"/>
                    </a:p>
                  </a:txBody>
                  <a:tcPr marT="91425" marB="91425" marR="91425" marL="91425"/>
                </a:tc>
              </a:tr>
              <a:tr h="84495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Continue to track customer experience and satisfaction</a:t>
                      </a:r>
                      <a:endParaRPr sz="13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Continue surveying/</a:t>
                      </a:r>
                      <a:endParaRPr sz="1300" u="none" cap="none" strike="noStrike"/>
                    </a:p>
                    <a:p>
                      <a:pPr indent="0" lvl="0" marL="0" marR="0" rtl="0" algn="l">
                        <a:lnSpc>
                          <a:spcPct val="100000"/>
                        </a:lnSpc>
                        <a:spcBef>
                          <a:spcPts val="0"/>
                        </a:spcBef>
                        <a:spcAft>
                          <a:spcPts val="0"/>
                        </a:spcAft>
                        <a:buClr>
                          <a:srgbClr val="000000"/>
                        </a:buClr>
                        <a:buSzPts val="1300"/>
                        <a:buFont typeface="Arial"/>
                        <a:buNone/>
                      </a:pPr>
                      <a:r>
                        <a:rPr lang="en" sz="1300" u="none" cap="none" strike="noStrike"/>
                        <a:t>gathering data through various means</a:t>
                      </a:r>
                      <a:endParaRPr sz="13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Ongoing</a:t>
                      </a:r>
                      <a:endParaRPr sz="1300" u="none" cap="none" strike="noStrike"/>
                    </a:p>
                  </a:txBody>
                  <a:tcPr marT="91425" marB="91425" marR="91425" marL="91425"/>
                </a:tc>
              </a:tr>
              <a:tr h="84495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Expand tablet features</a:t>
                      </a:r>
                      <a:endParaRPr sz="13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Investigate new features like social media integration, reservations, videos, etc.</a:t>
                      </a:r>
                      <a:endParaRPr sz="13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t>Q4</a:t>
                      </a:r>
                      <a:endParaRPr sz="13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7D82"/>
        </a:solidFill>
      </p:bgPr>
    </p:bg>
    <p:spTree>
      <p:nvGrpSpPr>
        <p:cNvPr id="145" name="Shape 145"/>
        <p:cNvGrpSpPr/>
        <p:nvPr/>
      </p:nvGrpSpPr>
      <p:grpSpPr>
        <a:xfrm>
          <a:off x="0" y="0"/>
          <a:ext cx="0" cy="0"/>
          <a:chOff x="0" y="0"/>
          <a:chExt cx="0" cy="0"/>
        </a:xfrm>
      </p:grpSpPr>
      <p:sp>
        <p:nvSpPr>
          <p:cNvPr id="146" name="Google Shape;146;p2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n">
                <a:latin typeface="Arial"/>
                <a:ea typeface="Arial"/>
                <a:cs typeface="Arial"/>
                <a:sym typeface="Arial"/>
              </a:rPr>
              <a:t>Appendix</a:t>
            </a:r>
            <a:endParaRPr sz="23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