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Open Sans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OpenSans-regular.fntdata"/><Relationship Id="rId10" Type="http://schemas.openxmlformats.org/officeDocument/2006/relationships/slide" Target="slides/slide5.xml"/><Relationship Id="rId13" Type="http://schemas.openxmlformats.org/officeDocument/2006/relationships/font" Target="fonts/OpenSans-italic.fntdata"/><Relationship Id="rId12" Type="http://schemas.openxmlformats.org/officeDocument/2006/relationships/font" Target="fonts/Open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Notes: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 tablet pilot launched at both locations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 weekend before we ran a successful test run at one location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Hard work of many team members over the course of a few months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Now, let’s take a look at how successful it was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Notes: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We made a list of evaluation questions around how we wanted to measure success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It included questions around tablet experience, satisfaction, visit length, if they experienced any technical issues, and more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We administered the survey by offering it on the tablet after they pay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Notes: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Guests were generally satisfied with their experience, but there’s room for improvement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Other results included: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Guests</a:t>
            </a:r>
            <a:r>
              <a:rPr lang="en">
                <a:latin typeface="Open Sans"/>
                <a:ea typeface="Open Sans"/>
                <a:cs typeface="Open Sans"/>
                <a:sym typeface="Open Sans"/>
              </a:rPr>
              <a:t> preferred their experience with the tablets over a traditional waiter experience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Guests found the checkout process quick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There’s still work to do on improving speed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Guest orders are still being made incorrectly 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Notes: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Guests noted that they were still waiting the usual time for their table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Guests noted that they were spending the same amount of time at the table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One goal for the tablets was to decrease visit time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We’ll work with the GMs to speed up visit time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Notes: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Guests noted that some of their tablets weren’t working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We want to put a plan in place to check tablets at the beginning the night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We also want to put a plan in place to swap out tablets immediately if that happens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78750" y="75450"/>
            <a:ext cx="8986500" cy="4992600"/>
            <a:chOff x="78750" y="75450"/>
            <a:chExt cx="8986500" cy="4992600"/>
          </a:xfrm>
        </p:grpSpPr>
        <p:sp>
          <p:nvSpPr>
            <p:cNvPr id="55" name="Google Shape;55;p13"/>
            <p:cNvSpPr/>
            <p:nvPr/>
          </p:nvSpPr>
          <p:spPr>
            <a:xfrm>
              <a:off x="78750" y="75450"/>
              <a:ext cx="8986500" cy="4992600"/>
            </a:xfrm>
            <a:prstGeom prst="rect">
              <a:avLst/>
            </a:prstGeom>
            <a:noFill/>
            <a:ln cap="flat" cmpd="sng" w="76200">
              <a:solidFill>
                <a:srgbClr val="0C718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13"/>
            <p:cNvSpPr/>
            <p:nvPr/>
          </p:nvSpPr>
          <p:spPr>
            <a:xfrm>
              <a:off x="193800" y="184950"/>
              <a:ext cx="8756400" cy="4773600"/>
            </a:xfrm>
            <a:prstGeom prst="rect">
              <a:avLst/>
            </a:prstGeom>
            <a:noFill/>
            <a:ln cap="flat" cmpd="sng" w="19050">
              <a:solidFill>
                <a:srgbClr val="0C718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" name="Google Shape;57;p13"/>
          <p:cNvSpPr txBox="1"/>
          <p:nvPr>
            <p:ph type="ctrTitle"/>
          </p:nvPr>
        </p:nvSpPr>
        <p:spPr>
          <a:xfrm>
            <a:off x="311700" y="285200"/>
            <a:ext cx="8520600" cy="103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n">
                <a:solidFill>
                  <a:srgbClr val="0C7182"/>
                </a:solidFill>
                <a:latin typeface="Open Sans"/>
                <a:ea typeface="Open Sans"/>
                <a:cs typeface="Open Sans"/>
                <a:sym typeface="Open Sans"/>
              </a:rPr>
              <a:t>Tablet Pilot Findings</a:t>
            </a:r>
            <a:endParaRPr b="1">
              <a:solidFill>
                <a:srgbClr val="0C718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84449" y="4170800"/>
            <a:ext cx="761100" cy="7611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/>
          <p:nvPr/>
        </p:nvSpPr>
        <p:spPr>
          <a:xfrm>
            <a:off x="1140750" y="1711150"/>
            <a:ext cx="6862500" cy="27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Milestone</a:t>
            </a:r>
            <a:r>
              <a:rPr b="0" i="0" lang="en" sz="2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Restaurant tablet pilot launched</a:t>
            </a:r>
            <a:endParaRPr b="0" i="0" sz="2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How we got there...</a:t>
            </a:r>
            <a:endParaRPr b="0" i="0" sz="2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14"/>
          <p:cNvGrpSpPr/>
          <p:nvPr/>
        </p:nvGrpSpPr>
        <p:grpSpPr>
          <a:xfrm>
            <a:off x="78750" y="75450"/>
            <a:ext cx="8986500" cy="4992600"/>
            <a:chOff x="78750" y="75450"/>
            <a:chExt cx="8986500" cy="4992600"/>
          </a:xfrm>
        </p:grpSpPr>
        <p:sp>
          <p:nvSpPr>
            <p:cNvPr id="65" name="Google Shape;65;p14"/>
            <p:cNvSpPr/>
            <p:nvPr/>
          </p:nvSpPr>
          <p:spPr>
            <a:xfrm>
              <a:off x="78750" y="75450"/>
              <a:ext cx="8986500" cy="4992600"/>
            </a:xfrm>
            <a:prstGeom prst="rect">
              <a:avLst/>
            </a:prstGeom>
            <a:noFill/>
            <a:ln cap="flat" cmpd="sng" w="76200">
              <a:solidFill>
                <a:srgbClr val="0C718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14"/>
            <p:cNvSpPr/>
            <p:nvPr/>
          </p:nvSpPr>
          <p:spPr>
            <a:xfrm>
              <a:off x="193800" y="184950"/>
              <a:ext cx="8756400" cy="4773600"/>
            </a:xfrm>
            <a:prstGeom prst="rect">
              <a:avLst/>
            </a:prstGeom>
            <a:noFill/>
            <a:ln cap="flat" cmpd="sng" w="19050">
              <a:solidFill>
                <a:srgbClr val="0C718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7" name="Google Shape;6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84449" y="4170800"/>
            <a:ext cx="761100" cy="76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 txBox="1"/>
          <p:nvPr>
            <p:ph idx="4294967295" type="ctrTitle"/>
          </p:nvPr>
        </p:nvSpPr>
        <p:spPr>
          <a:xfrm>
            <a:off x="311700" y="285200"/>
            <a:ext cx="8520600" cy="10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" sz="3200" u="none" cap="none" strike="noStrike">
                <a:solidFill>
                  <a:srgbClr val="0C7182"/>
                </a:solidFill>
                <a:latin typeface="Open Sans"/>
                <a:ea typeface="Open Sans"/>
                <a:cs typeface="Open Sans"/>
                <a:sym typeface="Open Sans"/>
              </a:rPr>
              <a:t>Evaluation</a:t>
            </a:r>
            <a:endParaRPr b="1" i="0" sz="3200" u="none" cap="none" strike="noStrike">
              <a:solidFill>
                <a:srgbClr val="0C718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1140750" y="1317500"/>
            <a:ext cx="6862500" cy="31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Did we achieve our goals?</a:t>
            </a:r>
            <a:endParaRPr b="1" i="0" sz="2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1" i="0" sz="2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Were customers satisfied?</a:t>
            </a:r>
            <a:endParaRPr b="1" i="0" sz="2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1" i="0" sz="2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" sz="2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 order to evaluate the tablet launch, we asked guests to complete a survey on the tablet at the end of their visit.</a:t>
            </a:r>
            <a:endParaRPr b="0" i="0" sz="2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5"/>
          <p:cNvGrpSpPr/>
          <p:nvPr/>
        </p:nvGrpSpPr>
        <p:grpSpPr>
          <a:xfrm>
            <a:off x="78750" y="75450"/>
            <a:ext cx="8986500" cy="4992600"/>
            <a:chOff x="78750" y="75450"/>
            <a:chExt cx="8986500" cy="4992600"/>
          </a:xfrm>
        </p:grpSpPr>
        <p:sp>
          <p:nvSpPr>
            <p:cNvPr id="75" name="Google Shape;75;p15"/>
            <p:cNvSpPr/>
            <p:nvPr/>
          </p:nvSpPr>
          <p:spPr>
            <a:xfrm>
              <a:off x="78750" y="75450"/>
              <a:ext cx="8986500" cy="4992600"/>
            </a:xfrm>
            <a:prstGeom prst="rect">
              <a:avLst/>
            </a:prstGeom>
            <a:noFill/>
            <a:ln cap="flat" cmpd="sng" w="76200">
              <a:solidFill>
                <a:srgbClr val="0C718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5"/>
            <p:cNvSpPr/>
            <p:nvPr/>
          </p:nvSpPr>
          <p:spPr>
            <a:xfrm>
              <a:off x="193800" y="184950"/>
              <a:ext cx="8756400" cy="4773600"/>
            </a:xfrm>
            <a:prstGeom prst="rect">
              <a:avLst/>
            </a:prstGeom>
            <a:noFill/>
            <a:ln cap="flat" cmpd="sng" w="19050">
              <a:solidFill>
                <a:srgbClr val="0C718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7" name="Google Shape;7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84449" y="4170800"/>
            <a:ext cx="761100" cy="76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/>
          <p:nvPr>
            <p:ph idx="4294967295" type="ctrTitle"/>
          </p:nvPr>
        </p:nvSpPr>
        <p:spPr>
          <a:xfrm>
            <a:off x="311700" y="285200"/>
            <a:ext cx="8520600" cy="10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" sz="3200" u="none" cap="none" strike="noStrike">
                <a:solidFill>
                  <a:srgbClr val="0C7182"/>
                </a:solidFill>
                <a:latin typeface="Open Sans"/>
                <a:ea typeface="Open Sans"/>
                <a:cs typeface="Open Sans"/>
                <a:sym typeface="Open Sans"/>
              </a:rPr>
              <a:t>Results</a:t>
            </a:r>
            <a:endParaRPr b="1" i="0" sz="3200" u="none" cap="none" strike="noStrike">
              <a:solidFill>
                <a:srgbClr val="0C718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1140750" y="1693325"/>
            <a:ext cx="6862500" cy="27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</a:pPr>
            <a:r>
              <a:rPr b="0" i="0" lang="en" sz="5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72%</a:t>
            </a:r>
            <a:endParaRPr b="0" i="0" sz="5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" sz="2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of guests rated their experience as</a:t>
            </a:r>
            <a:endParaRPr b="0" i="0" sz="2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" sz="2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either a 4 or 5 (Great)</a:t>
            </a:r>
            <a:endParaRPr b="0" i="0" sz="2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6"/>
          <p:cNvGrpSpPr/>
          <p:nvPr/>
        </p:nvGrpSpPr>
        <p:grpSpPr>
          <a:xfrm>
            <a:off x="78750" y="75450"/>
            <a:ext cx="8986500" cy="4992600"/>
            <a:chOff x="78750" y="75450"/>
            <a:chExt cx="8986500" cy="4992600"/>
          </a:xfrm>
        </p:grpSpPr>
        <p:sp>
          <p:nvSpPr>
            <p:cNvPr id="85" name="Google Shape;85;p16"/>
            <p:cNvSpPr/>
            <p:nvPr/>
          </p:nvSpPr>
          <p:spPr>
            <a:xfrm>
              <a:off x="78750" y="75450"/>
              <a:ext cx="8986500" cy="4992600"/>
            </a:xfrm>
            <a:prstGeom prst="rect">
              <a:avLst/>
            </a:prstGeom>
            <a:noFill/>
            <a:ln cap="flat" cmpd="sng" w="76200">
              <a:solidFill>
                <a:srgbClr val="0C718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6"/>
            <p:cNvSpPr/>
            <p:nvPr/>
          </p:nvSpPr>
          <p:spPr>
            <a:xfrm>
              <a:off x="193800" y="184950"/>
              <a:ext cx="8756400" cy="4773600"/>
            </a:xfrm>
            <a:prstGeom prst="rect">
              <a:avLst/>
            </a:prstGeom>
            <a:noFill/>
            <a:ln cap="flat" cmpd="sng" w="19050">
              <a:solidFill>
                <a:srgbClr val="0C718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7" name="Google Shape;8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84449" y="4170800"/>
            <a:ext cx="761100" cy="76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/>
          <p:cNvSpPr txBox="1"/>
          <p:nvPr>
            <p:ph idx="4294967295" type="ctrTitle"/>
          </p:nvPr>
        </p:nvSpPr>
        <p:spPr>
          <a:xfrm>
            <a:off x="311700" y="285200"/>
            <a:ext cx="8520600" cy="10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" sz="3200" u="none" cap="none" strike="noStrike">
                <a:solidFill>
                  <a:srgbClr val="0C7182"/>
                </a:solidFill>
                <a:latin typeface="Open Sans"/>
                <a:ea typeface="Open Sans"/>
                <a:cs typeface="Open Sans"/>
                <a:sym typeface="Open Sans"/>
              </a:rPr>
              <a:t>Recommendation #1</a:t>
            </a:r>
            <a:endParaRPr b="1" i="0" sz="3200" u="none" cap="none" strike="noStrike">
              <a:solidFill>
                <a:srgbClr val="0C718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1140750" y="1317500"/>
            <a:ext cx="6862500" cy="31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Survey Finding</a:t>
            </a:r>
            <a:r>
              <a:rPr b="0" i="0" lang="en" sz="2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Table turn time didn’t decrease</a:t>
            </a:r>
            <a:endParaRPr b="0" i="0" sz="2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Recommendation</a:t>
            </a:r>
            <a:r>
              <a:rPr b="0" i="0" lang="en" sz="2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Work with GMs on speeding up guest visits</a:t>
            </a:r>
            <a:endParaRPr b="0" i="0" sz="2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7"/>
          <p:cNvGrpSpPr/>
          <p:nvPr/>
        </p:nvGrpSpPr>
        <p:grpSpPr>
          <a:xfrm>
            <a:off x="78750" y="75450"/>
            <a:ext cx="8986500" cy="4992600"/>
            <a:chOff x="78750" y="75450"/>
            <a:chExt cx="8986500" cy="4992600"/>
          </a:xfrm>
        </p:grpSpPr>
        <p:sp>
          <p:nvSpPr>
            <p:cNvPr id="95" name="Google Shape;95;p17"/>
            <p:cNvSpPr/>
            <p:nvPr/>
          </p:nvSpPr>
          <p:spPr>
            <a:xfrm>
              <a:off x="78750" y="75450"/>
              <a:ext cx="8986500" cy="4992600"/>
            </a:xfrm>
            <a:prstGeom prst="rect">
              <a:avLst/>
            </a:prstGeom>
            <a:noFill/>
            <a:ln cap="flat" cmpd="sng" w="76200">
              <a:solidFill>
                <a:srgbClr val="0C718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17"/>
            <p:cNvSpPr/>
            <p:nvPr/>
          </p:nvSpPr>
          <p:spPr>
            <a:xfrm>
              <a:off x="193800" y="184950"/>
              <a:ext cx="8756400" cy="4773600"/>
            </a:xfrm>
            <a:prstGeom prst="rect">
              <a:avLst/>
            </a:prstGeom>
            <a:noFill/>
            <a:ln cap="flat" cmpd="sng" w="19050">
              <a:solidFill>
                <a:srgbClr val="0C718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7" name="Google Shape;9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84449" y="4170800"/>
            <a:ext cx="761100" cy="76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 txBox="1"/>
          <p:nvPr>
            <p:ph idx="4294967295" type="ctrTitle"/>
          </p:nvPr>
        </p:nvSpPr>
        <p:spPr>
          <a:xfrm>
            <a:off x="311700" y="285200"/>
            <a:ext cx="8520600" cy="10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" sz="3200" u="none" cap="none" strike="noStrike">
                <a:solidFill>
                  <a:srgbClr val="0C7182"/>
                </a:solidFill>
                <a:latin typeface="Open Sans"/>
                <a:ea typeface="Open Sans"/>
                <a:cs typeface="Open Sans"/>
                <a:sym typeface="Open Sans"/>
              </a:rPr>
              <a:t>Recommendation #2</a:t>
            </a:r>
            <a:endParaRPr b="1" i="0" sz="3200" u="none" cap="none" strike="noStrike">
              <a:solidFill>
                <a:srgbClr val="0C718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1140750" y="1317500"/>
            <a:ext cx="6862500" cy="31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Survey Finding</a:t>
            </a:r>
            <a:r>
              <a:rPr b="0" i="0" lang="en" sz="2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Tablet malfunctions</a:t>
            </a:r>
            <a:endParaRPr b="0" i="0" sz="2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Recommendation</a:t>
            </a:r>
            <a:r>
              <a:rPr b="0" i="0" lang="en" sz="2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Implement process for checking tablets before service/changing out tablets between guests</a:t>
            </a:r>
            <a:endParaRPr b="0" i="0" sz="2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